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8" r:id="rId2"/>
    <p:sldId id="260" r:id="rId3"/>
    <p:sldId id="262" r:id="rId4"/>
    <p:sldId id="279" r:id="rId5"/>
    <p:sldId id="297" r:id="rId6"/>
    <p:sldId id="264" r:id="rId7"/>
    <p:sldId id="265" r:id="rId8"/>
    <p:sldId id="266" r:id="rId9"/>
    <p:sldId id="296" r:id="rId10"/>
    <p:sldId id="268" r:id="rId11"/>
    <p:sldId id="269" r:id="rId12"/>
    <p:sldId id="290" r:id="rId13"/>
    <p:sldId id="282" r:id="rId14"/>
    <p:sldId id="291" r:id="rId15"/>
    <p:sldId id="272" r:id="rId16"/>
    <p:sldId id="298" r:id="rId17"/>
    <p:sldId id="273" r:id="rId18"/>
    <p:sldId id="293" r:id="rId19"/>
    <p:sldId id="278" r:id="rId20"/>
    <p:sldId id="280"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08C38A-159C-4DAC-B527-6A3892B9C3A7}" v="58" dt="2025-12-05T06:55:09.63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447" autoAdjust="0"/>
  </p:normalViewPr>
  <p:slideViewPr>
    <p:cSldViewPr snapToGrid="0">
      <p:cViewPr>
        <p:scale>
          <a:sx n="63" d="100"/>
          <a:sy n="63" d="100"/>
        </p:scale>
        <p:origin x="804" y="56"/>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BhaskarReddy Nakka" userId="f99072f8d1d6b2d5" providerId="LiveId" clId="{4915FC2A-1636-4856-84F9-A89E892FEF4E}"/>
    <pc:docChg chg="undo custSel addSld delSld modSld">
      <pc:chgData name="VijayBhaskarReddy Nakka" userId="f99072f8d1d6b2d5" providerId="LiveId" clId="{4915FC2A-1636-4856-84F9-A89E892FEF4E}" dt="2025-12-05T06:54:41.966" v="760"/>
      <pc:docMkLst>
        <pc:docMk/>
      </pc:docMkLst>
      <pc:sldChg chg="modSp mod">
        <pc:chgData name="VijayBhaskarReddy Nakka" userId="f99072f8d1d6b2d5" providerId="LiveId" clId="{4915FC2A-1636-4856-84F9-A89E892FEF4E}" dt="2025-11-10T09:33:22.450" v="144" actId="20577"/>
        <pc:sldMkLst>
          <pc:docMk/>
          <pc:sldMk cId="0" sldId="258"/>
        </pc:sldMkLst>
        <pc:spChg chg="mod">
          <ac:chgData name="VijayBhaskarReddy Nakka" userId="f99072f8d1d6b2d5" providerId="LiveId" clId="{4915FC2A-1636-4856-84F9-A89E892FEF4E}" dt="2025-11-10T08:46:31.611" v="102" actId="20577"/>
          <ac:spMkLst>
            <pc:docMk/>
            <pc:sldMk cId="0" sldId="258"/>
            <ac:spMk id="16" creationId="{00000000-0000-0000-0000-000000000000}"/>
          </ac:spMkLst>
        </pc:spChg>
        <pc:spChg chg="mod">
          <ac:chgData name="VijayBhaskarReddy Nakka" userId="f99072f8d1d6b2d5" providerId="LiveId" clId="{4915FC2A-1636-4856-84F9-A89E892FEF4E}" dt="2025-11-10T09:33:22.450" v="144" actId="20577"/>
          <ac:spMkLst>
            <pc:docMk/>
            <pc:sldMk cId="0" sldId="258"/>
            <ac:spMk id="17" creationId="{00000000-0000-0000-0000-000000000000}"/>
          </ac:spMkLst>
        </pc:spChg>
      </pc:sldChg>
      <pc:sldChg chg="modSp mod">
        <pc:chgData name="VijayBhaskarReddy Nakka" userId="f99072f8d1d6b2d5" providerId="LiveId" clId="{4915FC2A-1636-4856-84F9-A89E892FEF4E}" dt="2025-11-10T06:36:13.030" v="1" actId="255"/>
        <pc:sldMkLst>
          <pc:docMk/>
          <pc:sldMk cId="0" sldId="262"/>
        </pc:sldMkLst>
        <pc:spChg chg="mod">
          <ac:chgData name="VijayBhaskarReddy Nakka" userId="f99072f8d1d6b2d5" providerId="LiveId" clId="{4915FC2A-1636-4856-84F9-A89E892FEF4E}" dt="2025-11-10T06:36:13.030" v="1" actId="255"/>
          <ac:spMkLst>
            <pc:docMk/>
            <pc:sldMk cId="0" sldId="262"/>
            <ac:spMk id="9" creationId="{00000000-0000-0000-0000-000000000000}"/>
          </ac:spMkLst>
        </pc:spChg>
      </pc:sldChg>
      <pc:sldChg chg="modSp mod">
        <pc:chgData name="VijayBhaskarReddy Nakka" userId="f99072f8d1d6b2d5" providerId="LiveId" clId="{4915FC2A-1636-4856-84F9-A89E892FEF4E}" dt="2025-11-10T08:37:58.400" v="62" actId="27636"/>
        <pc:sldMkLst>
          <pc:docMk/>
          <pc:sldMk cId="0" sldId="264"/>
        </pc:sldMkLst>
        <pc:spChg chg="mod">
          <ac:chgData name="VijayBhaskarReddy Nakka" userId="f99072f8d1d6b2d5" providerId="LiveId" clId="{4915FC2A-1636-4856-84F9-A89E892FEF4E}" dt="2025-11-10T08:37:58.400" v="62" actId="27636"/>
          <ac:spMkLst>
            <pc:docMk/>
            <pc:sldMk cId="0" sldId="264"/>
            <ac:spMk id="11" creationId="{00000000-0000-0000-0000-000000000000}"/>
          </ac:spMkLst>
        </pc:spChg>
      </pc:sldChg>
      <pc:sldChg chg="modSp mod">
        <pc:chgData name="VijayBhaskarReddy Nakka" userId="f99072f8d1d6b2d5" providerId="LiveId" clId="{4915FC2A-1636-4856-84F9-A89E892FEF4E}" dt="2025-12-05T06:22:49.392" v="538" actId="5793"/>
        <pc:sldMkLst>
          <pc:docMk/>
          <pc:sldMk cId="0" sldId="265"/>
        </pc:sldMkLst>
        <pc:spChg chg="mod">
          <ac:chgData name="VijayBhaskarReddy Nakka" userId="f99072f8d1d6b2d5" providerId="LiveId" clId="{4915FC2A-1636-4856-84F9-A89E892FEF4E}" dt="2025-12-05T06:22:49.392" v="538" actId="5793"/>
          <ac:spMkLst>
            <pc:docMk/>
            <pc:sldMk cId="0" sldId="265"/>
            <ac:spMk id="9" creationId="{00000000-0000-0000-0000-000000000000}"/>
          </ac:spMkLst>
        </pc:spChg>
      </pc:sldChg>
      <pc:sldChg chg="modSp mod">
        <pc:chgData name="VijayBhaskarReddy Nakka" userId="f99072f8d1d6b2d5" providerId="LiveId" clId="{4915FC2A-1636-4856-84F9-A89E892FEF4E}" dt="2025-11-10T08:38:19.789" v="63" actId="255"/>
        <pc:sldMkLst>
          <pc:docMk/>
          <pc:sldMk cId="0" sldId="266"/>
        </pc:sldMkLst>
        <pc:spChg chg="mod">
          <ac:chgData name="VijayBhaskarReddy Nakka" userId="f99072f8d1d6b2d5" providerId="LiveId" clId="{4915FC2A-1636-4856-84F9-A89E892FEF4E}" dt="2025-11-10T08:38:19.789" v="63" actId="255"/>
          <ac:spMkLst>
            <pc:docMk/>
            <pc:sldMk cId="0" sldId="266"/>
            <ac:spMk id="9" creationId="{00000000-0000-0000-0000-000000000000}"/>
          </ac:spMkLst>
        </pc:spChg>
      </pc:sldChg>
      <pc:sldChg chg="addSp delSp modSp mod">
        <pc:chgData name="VijayBhaskarReddy Nakka" userId="f99072f8d1d6b2d5" providerId="LiveId" clId="{4915FC2A-1636-4856-84F9-A89E892FEF4E}" dt="2025-12-05T05:27:05.204" v="430" actId="20577"/>
        <pc:sldMkLst>
          <pc:docMk/>
          <pc:sldMk cId="0" sldId="269"/>
        </pc:sldMkLst>
        <pc:spChg chg="mod">
          <ac:chgData name="VijayBhaskarReddy Nakka" userId="f99072f8d1d6b2d5" providerId="LiveId" clId="{4915FC2A-1636-4856-84F9-A89E892FEF4E}" dt="2025-12-05T05:27:05.204" v="430" actId="20577"/>
          <ac:spMkLst>
            <pc:docMk/>
            <pc:sldMk cId="0" sldId="269"/>
            <ac:spMk id="10" creationId="{DE4D3666-D7D7-498C-7E41-3E4227D91418}"/>
          </ac:spMkLst>
        </pc:spChg>
        <pc:picChg chg="add del mod">
          <ac:chgData name="VijayBhaskarReddy Nakka" userId="f99072f8d1d6b2d5" providerId="LiveId" clId="{4915FC2A-1636-4856-84F9-A89E892FEF4E}" dt="2025-12-05T04:38:51.630" v="395" actId="21"/>
          <ac:picMkLst>
            <pc:docMk/>
            <pc:sldMk cId="0" sldId="269"/>
            <ac:picMk id="3" creationId="{4ACEC453-42C9-32A6-390D-1CE73BCE564D}"/>
          </ac:picMkLst>
        </pc:picChg>
        <pc:picChg chg="add mod">
          <ac:chgData name="VijayBhaskarReddy Nakka" userId="f99072f8d1d6b2d5" providerId="LiveId" clId="{4915FC2A-1636-4856-84F9-A89E892FEF4E}" dt="2025-12-05T05:26:42.024" v="425" actId="14100"/>
          <ac:picMkLst>
            <pc:docMk/>
            <pc:sldMk cId="0" sldId="269"/>
            <ac:picMk id="9" creationId="{20C8D44D-98CE-3B49-9E17-1E3E7E9D59B5}"/>
          </ac:picMkLst>
        </pc:picChg>
      </pc:sldChg>
      <pc:sldChg chg="modSp mod">
        <pc:chgData name="VijayBhaskarReddy Nakka" userId="f99072f8d1d6b2d5" providerId="LiveId" clId="{4915FC2A-1636-4856-84F9-A89E892FEF4E}" dt="2025-11-10T08:39:54.632" v="66" actId="1076"/>
        <pc:sldMkLst>
          <pc:docMk/>
          <pc:sldMk cId="0" sldId="272"/>
        </pc:sldMkLst>
        <pc:spChg chg="mod">
          <ac:chgData name="VijayBhaskarReddy Nakka" userId="f99072f8d1d6b2d5" providerId="LiveId" clId="{4915FC2A-1636-4856-84F9-A89E892FEF4E}" dt="2025-11-10T08:39:41.988" v="65" actId="20577"/>
          <ac:spMkLst>
            <pc:docMk/>
            <pc:sldMk cId="0" sldId="272"/>
            <ac:spMk id="11" creationId="{00000000-0000-0000-0000-000000000000}"/>
          </ac:spMkLst>
        </pc:spChg>
        <pc:picChg chg="mod">
          <ac:chgData name="VijayBhaskarReddy Nakka" userId="f99072f8d1d6b2d5" providerId="LiveId" clId="{4915FC2A-1636-4856-84F9-A89E892FEF4E}" dt="2025-11-10T08:39:54.632" v="66" actId="1076"/>
          <ac:picMkLst>
            <pc:docMk/>
            <pc:sldMk cId="0" sldId="272"/>
            <ac:picMk id="3" creationId="{F25CD21C-E5FC-074C-D095-A1017566F93D}"/>
          </ac:picMkLst>
        </pc:picChg>
        <pc:picChg chg="mod">
          <ac:chgData name="VijayBhaskarReddy Nakka" userId="f99072f8d1d6b2d5" providerId="LiveId" clId="{4915FC2A-1636-4856-84F9-A89E892FEF4E}" dt="2025-11-10T08:26:48.696" v="56" actId="1076"/>
          <ac:picMkLst>
            <pc:docMk/>
            <pc:sldMk cId="0" sldId="272"/>
            <ac:picMk id="12" creationId="{C3BAF19B-7F65-17E3-101F-CA3C91B51F91}"/>
          </ac:picMkLst>
        </pc:picChg>
      </pc:sldChg>
      <pc:sldChg chg="modSp mod">
        <pc:chgData name="VijayBhaskarReddy Nakka" userId="f99072f8d1d6b2d5" providerId="LiveId" clId="{4915FC2A-1636-4856-84F9-A89E892FEF4E}" dt="2025-11-10T08:42:28.952" v="97" actId="2711"/>
        <pc:sldMkLst>
          <pc:docMk/>
          <pc:sldMk cId="0" sldId="273"/>
        </pc:sldMkLst>
        <pc:spChg chg="mod">
          <ac:chgData name="VijayBhaskarReddy Nakka" userId="f99072f8d1d6b2d5" providerId="LiveId" clId="{4915FC2A-1636-4856-84F9-A89E892FEF4E}" dt="2025-11-10T08:42:28.952" v="97" actId="2711"/>
          <ac:spMkLst>
            <pc:docMk/>
            <pc:sldMk cId="0" sldId="273"/>
            <ac:spMk id="9" creationId="{00000000-0000-0000-0000-000000000000}"/>
          </ac:spMkLst>
        </pc:spChg>
      </pc:sldChg>
      <pc:sldChg chg="addSp delSp modSp mod">
        <pc:chgData name="VijayBhaskarReddy Nakka" userId="f99072f8d1d6b2d5" providerId="LiveId" clId="{4915FC2A-1636-4856-84F9-A89E892FEF4E}" dt="2025-11-10T08:58:19.513" v="141" actId="14100"/>
        <pc:sldMkLst>
          <pc:docMk/>
          <pc:sldMk cId="0" sldId="277"/>
        </pc:sldMkLst>
        <pc:picChg chg="add mod">
          <ac:chgData name="VijayBhaskarReddy Nakka" userId="f99072f8d1d6b2d5" providerId="LiveId" clId="{4915FC2A-1636-4856-84F9-A89E892FEF4E}" dt="2025-11-10T08:58:19.513" v="141" actId="14100"/>
          <ac:picMkLst>
            <pc:docMk/>
            <pc:sldMk cId="0" sldId="277"/>
            <ac:picMk id="9" creationId="{8DAC5598-4A78-956E-1198-95CA2E5DCAE1}"/>
          </ac:picMkLst>
        </pc:picChg>
        <pc:picChg chg="add del">
          <ac:chgData name="VijayBhaskarReddy Nakka" userId="f99072f8d1d6b2d5" providerId="LiveId" clId="{4915FC2A-1636-4856-84F9-A89E892FEF4E}" dt="2025-11-10T08:56:46.667" v="133" actId="21"/>
          <ac:picMkLst>
            <pc:docMk/>
            <pc:sldMk cId="0" sldId="277"/>
            <ac:picMk id="1026" creationId="{00000000-0000-0000-0000-000000000000}"/>
          </ac:picMkLst>
        </pc:picChg>
      </pc:sldChg>
      <pc:sldChg chg="addSp modSp mod">
        <pc:chgData name="VijayBhaskarReddy Nakka" userId="f99072f8d1d6b2d5" providerId="LiveId" clId="{4915FC2A-1636-4856-84F9-A89E892FEF4E}" dt="2025-12-05T04:25:20.696" v="360" actId="20577"/>
        <pc:sldMkLst>
          <pc:docMk/>
          <pc:sldMk cId="0" sldId="282"/>
        </pc:sldMkLst>
        <pc:spChg chg="add">
          <ac:chgData name="VijayBhaskarReddy Nakka" userId="f99072f8d1d6b2d5" providerId="LiveId" clId="{4915FC2A-1636-4856-84F9-A89E892FEF4E}" dt="2025-12-05T04:16:19.992" v="304"/>
          <ac:spMkLst>
            <pc:docMk/>
            <pc:sldMk cId="0" sldId="282"/>
            <ac:spMk id="4" creationId="{03EA9708-0951-4D0F-1B51-637785F513BF}"/>
          </ac:spMkLst>
        </pc:spChg>
        <pc:spChg chg="mod">
          <ac:chgData name="VijayBhaskarReddy Nakka" userId="f99072f8d1d6b2d5" providerId="LiveId" clId="{4915FC2A-1636-4856-84F9-A89E892FEF4E}" dt="2025-12-05T04:25:20.696" v="360" actId="20577"/>
          <ac:spMkLst>
            <pc:docMk/>
            <pc:sldMk cId="0" sldId="282"/>
            <ac:spMk id="12" creationId="{00000000-0000-0000-0000-000000000000}"/>
          </ac:spMkLst>
        </pc:spChg>
        <pc:picChg chg="add mod">
          <ac:chgData name="VijayBhaskarReddy Nakka" userId="f99072f8d1d6b2d5" providerId="LiveId" clId="{4915FC2A-1636-4856-84F9-A89E892FEF4E}" dt="2025-12-05T04:24:13.450" v="358" actId="1076"/>
          <ac:picMkLst>
            <pc:docMk/>
            <pc:sldMk cId="0" sldId="282"/>
            <ac:picMk id="3" creationId="{AC83E605-BCC9-5C85-542D-22C14CDD227A}"/>
          </ac:picMkLst>
        </pc:picChg>
      </pc:sldChg>
      <pc:sldChg chg="modSp mod">
        <pc:chgData name="VijayBhaskarReddy Nakka" userId="f99072f8d1d6b2d5" providerId="LiveId" clId="{4915FC2A-1636-4856-84F9-A89E892FEF4E}" dt="2025-12-05T05:09:36.672" v="417" actId="20577"/>
        <pc:sldMkLst>
          <pc:docMk/>
          <pc:sldMk cId="0" sldId="290"/>
        </pc:sldMkLst>
        <pc:spChg chg="mod">
          <ac:chgData name="VijayBhaskarReddy Nakka" userId="f99072f8d1d6b2d5" providerId="LiveId" clId="{4915FC2A-1636-4856-84F9-A89E892FEF4E}" dt="2025-12-05T05:09:36.672" v="417" actId="20577"/>
          <ac:spMkLst>
            <pc:docMk/>
            <pc:sldMk cId="0" sldId="290"/>
            <ac:spMk id="3" creationId="{00000000-0000-0000-0000-000000000000}"/>
          </ac:spMkLst>
        </pc:spChg>
      </pc:sldChg>
      <pc:sldChg chg="modSp mod">
        <pc:chgData name="VijayBhaskarReddy Nakka" userId="f99072f8d1d6b2d5" providerId="LiveId" clId="{4915FC2A-1636-4856-84F9-A89E892FEF4E}" dt="2025-11-10T06:32:12.876" v="0" actId="14100"/>
        <pc:sldMkLst>
          <pc:docMk/>
          <pc:sldMk cId="0" sldId="293"/>
        </pc:sldMkLst>
        <pc:spChg chg="mod">
          <ac:chgData name="VijayBhaskarReddy Nakka" userId="f99072f8d1d6b2d5" providerId="LiveId" clId="{4915FC2A-1636-4856-84F9-A89E892FEF4E}" dt="2025-11-10T06:32:12.876" v="0" actId="14100"/>
          <ac:spMkLst>
            <pc:docMk/>
            <pc:sldMk cId="0" sldId="293"/>
            <ac:spMk id="9" creationId="{00000000-0000-0000-0000-000000000000}"/>
          </ac:spMkLst>
        </pc:spChg>
      </pc:sldChg>
      <pc:sldChg chg="addSp delSp modSp add del mod">
        <pc:chgData name="VijayBhaskarReddy Nakka" userId="f99072f8d1d6b2d5" providerId="LiveId" clId="{4915FC2A-1636-4856-84F9-A89E892FEF4E}" dt="2025-12-05T06:54:41.966" v="760"/>
        <pc:sldMkLst>
          <pc:docMk/>
          <pc:sldMk cId="0" sldId="297"/>
        </pc:sldMkLst>
        <pc:graphicFrameChg chg="mod modGraphic">
          <ac:chgData name="VijayBhaskarReddy Nakka" userId="f99072f8d1d6b2d5" providerId="LiveId" clId="{4915FC2A-1636-4856-84F9-A89E892FEF4E}" dt="2025-12-05T06:54:41.966" v="760"/>
          <ac:graphicFrameMkLst>
            <pc:docMk/>
            <pc:sldMk cId="0" sldId="297"/>
            <ac:graphicFrameMk id="3" creationId="{00000000-0000-0000-0000-000000000000}"/>
          </ac:graphicFrameMkLst>
        </pc:graphicFrameChg>
      </pc:sldChg>
      <pc:sldChg chg="addSp modSp add mod">
        <pc:chgData name="VijayBhaskarReddy Nakka" userId="f99072f8d1d6b2d5" providerId="LiveId" clId="{4915FC2A-1636-4856-84F9-A89E892FEF4E}" dt="2025-12-05T05:37:23.399" v="532" actId="14100"/>
        <pc:sldMkLst>
          <pc:docMk/>
          <pc:sldMk cId="0" sldId="298"/>
        </pc:sldMkLst>
        <pc:spChg chg="add">
          <ac:chgData name="VijayBhaskarReddy Nakka" userId="f99072f8d1d6b2d5" providerId="LiveId" clId="{4915FC2A-1636-4856-84F9-A89E892FEF4E}" dt="2025-12-05T05:34:00.049" v="494"/>
          <ac:spMkLst>
            <pc:docMk/>
            <pc:sldMk cId="0" sldId="298"/>
            <ac:spMk id="4" creationId="{44F5C9BE-29DA-85D9-F6E0-6C3B2D1FAF63}"/>
          </ac:spMkLst>
        </pc:spChg>
        <pc:spChg chg="mod">
          <ac:chgData name="VijayBhaskarReddy Nakka" userId="f99072f8d1d6b2d5" providerId="LiveId" clId="{4915FC2A-1636-4856-84F9-A89E892FEF4E}" dt="2025-12-05T05:36:12.776" v="521" actId="20577"/>
          <ac:spMkLst>
            <pc:docMk/>
            <pc:sldMk cId="0" sldId="298"/>
            <ac:spMk id="12" creationId="{00000000-0000-0000-0000-000000000000}"/>
          </ac:spMkLst>
        </pc:spChg>
        <pc:picChg chg="add mod">
          <ac:chgData name="VijayBhaskarReddy Nakka" userId="f99072f8d1d6b2d5" providerId="LiveId" clId="{4915FC2A-1636-4856-84F9-A89E892FEF4E}" dt="2025-12-05T05:30:35.511" v="487" actId="14100"/>
          <ac:picMkLst>
            <pc:docMk/>
            <pc:sldMk cId="0" sldId="298"/>
            <ac:picMk id="3" creationId="{E0CA1BE7-63CC-C8DD-26FE-075BB71439C9}"/>
          </ac:picMkLst>
        </pc:picChg>
        <pc:picChg chg="add mod">
          <ac:chgData name="VijayBhaskarReddy Nakka" userId="f99072f8d1d6b2d5" providerId="LiveId" clId="{4915FC2A-1636-4856-84F9-A89E892FEF4E}" dt="2025-12-05T05:37:23.399" v="532" actId="14100"/>
          <ac:picMkLst>
            <pc:docMk/>
            <pc:sldMk cId="0" sldId="298"/>
            <ac:picMk id="11" creationId="{84204B27-F3FB-6196-859A-28748AA5FC3D}"/>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05-12-2025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05-12-2025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5E58F0A-825B-43EC-9CD7-118F126DA1B6}" type="datetime1">
              <a:rPr lang="en-IN" smtClean="0"/>
              <a:t>05-12-2025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4C803B-62AD-4010-AEFB-D9AF802A6496}" type="datetime1">
              <a:rPr lang="en-IN" smtClean="0"/>
              <a:t>05-12-2025</a:t>
            </a:fld>
            <a:endParaRPr lang="en-IN"/>
          </a:p>
        </p:txBody>
      </p:sp>
      <p:sp>
        <p:nvSpPr>
          <p:cNvPr id="5" name="Footer Placeholder 4"/>
          <p:cNvSpPr>
            <a:spLocks noGrp="1"/>
          </p:cNvSpPr>
          <p:nvPr>
            <p:ph type="ftr" sz="quarter" idx="11"/>
          </p:nvPr>
        </p:nvSpPr>
        <p:spPr/>
        <p:txBody>
          <a:bodyPr/>
          <a:lstStyle/>
          <a:p>
            <a:r>
              <a:rPr lang="en-US" dirty="0"/>
              <a:t>Review No.         Batch No. CB10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2EF212-5EE0-4AA8-AA52-1AD4716B5520}" type="datetime1">
              <a:rPr lang="en-IN" smtClean="0"/>
              <a:t>05-12-2025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D477AD5-9516-4803-9B8F-64EFE6B04E97}" type="datetime1">
              <a:rPr lang="en-IN" smtClean="0"/>
              <a:t>05-12-2025</a:t>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FEC19F5-3ACF-4602-91F2-584ADA347226}" type="datetime1">
              <a:rPr lang="en-IN" smtClean="0"/>
              <a:t>05-12-2025</a:t>
            </a:fld>
            <a:endParaRPr lang="en-IN"/>
          </a:p>
        </p:txBody>
      </p:sp>
      <p:sp>
        <p:nvSpPr>
          <p:cNvPr id="8" name="Footer Placeholder 7"/>
          <p:cNvSpPr>
            <a:spLocks noGrp="1"/>
          </p:cNvSpPr>
          <p:nvPr>
            <p:ph type="ftr" sz="quarter" idx="11"/>
          </p:nvPr>
        </p:nvSpPr>
        <p:spPr/>
        <p:txBody>
          <a:bodyPr/>
          <a:lstStyle/>
          <a:p>
            <a:r>
              <a:rPr lang="en-US"/>
              <a:t>Review No.         Batch No.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F932DEC-E61F-415A-BB11-622ACF22FA82}" type="datetime1">
              <a:rPr lang="en-IN" smtClean="0"/>
              <a:t>05-12-2025</a:t>
            </a:fld>
            <a:endParaRPr lang="en-IN"/>
          </a:p>
        </p:txBody>
      </p:sp>
      <p:sp>
        <p:nvSpPr>
          <p:cNvPr id="4" name="Footer Placeholder 3"/>
          <p:cNvSpPr>
            <a:spLocks noGrp="1"/>
          </p:cNvSpPr>
          <p:nvPr>
            <p:ph type="ftr" sz="quarter" idx="11"/>
          </p:nvPr>
        </p:nvSpPr>
        <p:spPr/>
        <p:txBody>
          <a:bodyPr/>
          <a:lstStyle/>
          <a:p>
            <a:r>
              <a:rPr lang="en-US"/>
              <a:t>Review No.         Batch No.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6EEC6-0141-45B7-8835-252B848F88BA}" type="datetime1">
              <a:rPr lang="en-IN" smtClean="0"/>
              <a:t>05-12-2025</a:t>
            </a:fld>
            <a:endParaRPr lang="en-IN"/>
          </a:p>
        </p:txBody>
      </p:sp>
      <p:sp>
        <p:nvSpPr>
          <p:cNvPr id="3" name="Footer Placeholder 2"/>
          <p:cNvSpPr>
            <a:spLocks noGrp="1"/>
          </p:cNvSpPr>
          <p:nvPr>
            <p:ph type="ftr" sz="quarter" idx="11"/>
          </p:nvPr>
        </p:nvSpPr>
        <p:spPr/>
        <p:txBody>
          <a:bodyPr/>
          <a:lstStyle/>
          <a:p>
            <a:r>
              <a:rPr lang="en-US"/>
              <a:t>Review No.         Batch No.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53116E-6FF0-4C6D-8DFD-00263320DEBD}" type="datetime1">
              <a:rPr lang="en-IN" smtClean="0"/>
              <a:t>05-12-2025</a:t>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B6E4B8-84AF-4AF2-B62C-BFAB3810F0B1}" type="datetime1">
              <a:rPr lang="en-IN" smtClean="0"/>
              <a:t>05-12-2025</a:t>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F6D04C-3771-42DE-9B65-7B6404FB4859}" type="datetime1">
              <a:rPr lang="en-IN" smtClean="0"/>
              <a:t>05-12-2025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B51216-7DD8-4439-BE7B-781B8BCB2E48}" type="datetime1">
              <a:rPr lang="en-IN" smtClean="0"/>
              <a:t>05-12-2025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797CF1-9FF6-48D4-89E7-B1B5528DDDD6}" type="datetime1">
              <a:rPr lang="en-IN" smtClean="0"/>
              <a:t>05-12-2025</a:t>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797CF1-9FF6-48D4-89E7-B1B5528DDDD6}" type="datetime1">
              <a:rPr lang="en-IN" smtClean="0"/>
              <a:t>05-12-2025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Batch No.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rxiv.org/abs/2506.08780"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anose="02020603050405020304" pitchFamily="18" charset="0"/>
              </a:rPr>
              <a:t>Department of Computer Science and Engineering</a:t>
            </a:r>
          </a:p>
          <a:p>
            <a:pPr algn="ctr">
              <a:spcBef>
                <a:spcPct val="20000"/>
              </a:spcBef>
              <a:defRPr/>
            </a:pPr>
            <a:r>
              <a:rPr lang="en-IN" sz="2400" dirty="0">
                <a:solidFill>
                  <a:srgbClr val="FF0000"/>
                </a:solidFill>
              </a:rPr>
              <a:t>Enhanced Multi-Zonal Forest Type Classification Using YOLOv8 and EuroSAT for Scalable Environmental Monitoring</a:t>
            </a:r>
            <a:endParaRPr lang="en-US"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Subtitle 2"/>
          <p:cNvSpPr>
            <a:spLocks noGrp="1"/>
          </p:cNvSpPr>
          <p:nvPr>
            <p:ph type="subTitle" idx="1"/>
          </p:nvPr>
        </p:nvSpPr>
        <p:spPr>
          <a:xfrm>
            <a:off x="1881450" y="1968030"/>
            <a:ext cx="9144000" cy="1460970"/>
          </a:xfrm>
        </p:spPr>
        <p:txBody>
          <a:bodyPr>
            <a:normAutofit/>
          </a:bodyPr>
          <a:lstStyle/>
          <a:p>
            <a:pPr eaLnBrk="1" hangingPunct="1"/>
            <a:r>
              <a:rPr lang="en-US" altLang="en-US" sz="1600" dirty="0">
                <a:solidFill>
                  <a:schemeClr val="tx1"/>
                </a:solidFill>
                <a:latin typeface="Times New Roman" panose="02020603050405020304" pitchFamily="18" charset="0"/>
                <a:cs typeface="Times New Roman" panose="02020603050405020304" pitchFamily="18" charset="0"/>
              </a:rPr>
              <a:t>PRESENTED BY</a:t>
            </a:r>
          </a:p>
          <a:p>
            <a:pPr algn="l" eaLnBrk="1" hangingPunct="1"/>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Nakka Vijay Bhaskar Reddy</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22471A05H8</a:t>
            </a:r>
            <a:r>
              <a:rPr lang="en-US" altLang="en-US" sz="1600" dirty="0">
                <a:solidFill>
                  <a:schemeClr val="tx1"/>
                </a:solidFill>
                <a:latin typeface="Times New Roman" panose="02020603050405020304" pitchFamily="18" charset="0"/>
                <a:cs typeface="Times New Roman" panose="02020603050405020304" pitchFamily="18" charset="0"/>
              </a:rPr>
              <a:t>)</a:t>
            </a:r>
          </a:p>
          <a:p>
            <a:pPr algn="l"/>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Nagaram Prasad Rao</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22471A05H7</a:t>
            </a:r>
            <a:r>
              <a:rPr lang="en-US" altLang="en-US" sz="1600" dirty="0">
                <a:solidFill>
                  <a:schemeClr val="tx1"/>
                </a:solidFill>
                <a:latin typeface="Times New Roman" panose="02020603050405020304" pitchFamily="18" charset="0"/>
                <a:cs typeface="Times New Roman" panose="02020603050405020304" pitchFamily="18" charset="0"/>
              </a:rPr>
              <a:t>) </a:t>
            </a:r>
          </a:p>
          <a:p>
            <a:pPr algn="l"/>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                  Mundlamuri Vijaya KumaraChari</a:t>
            </a:r>
            <a:r>
              <a:rPr lang="en-US" altLang="en-US" sz="1600" dirty="0">
                <a:solidFill>
                  <a:schemeClr val="tx1"/>
                </a:solidFill>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22471A05H6</a:t>
            </a:r>
            <a:r>
              <a:rPr lang="en-US" altLang="en-US" sz="1600" dirty="0">
                <a:solidFill>
                  <a:schemeClr val="tx1"/>
                </a:solidFill>
                <a:latin typeface="Times New Roman" panose="02020603050405020304" pitchFamily="18" charset="0"/>
                <a:cs typeface="Times New Roman" panose="02020603050405020304" pitchFamily="18" charset="0"/>
              </a:rPr>
              <a:t>) 	</a:t>
            </a:r>
          </a:p>
          <a:p>
            <a:pPr algn="l"/>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17" name="Subtitle 2"/>
          <p:cNvSpPr txBox="1"/>
          <p:nvPr/>
        </p:nvSpPr>
        <p:spPr bwMode="auto">
          <a:xfrm>
            <a:off x="2782854" y="3571458"/>
            <a:ext cx="6858000" cy="2288429"/>
          </a:xfrm>
          <a:prstGeom prst="rect">
            <a:avLst/>
          </a:prstGeom>
          <a:noFill/>
          <a:ln w="9525">
            <a:noFill/>
            <a:miter lim="800000"/>
          </a:ln>
        </p:spPr>
        <p:txBody>
          <a:bodyPr/>
          <a:lstStyle/>
          <a:p>
            <a:pPr algn="ctr" eaLnBrk="1" hangingPunct="1">
              <a:spcBef>
                <a:spcPct val="20000"/>
              </a:spcBef>
              <a:buFont typeface="Wingdings" panose="05000000000000000000" pitchFamily="2" charset="2"/>
              <a:buNone/>
            </a:pPr>
            <a:r>
              <a:rPr lang="en-US" altLang="en-US" dirty="0">
                <a:solidFill>
                  <a:srgbClr val="006600"/>
                </a:solidFill>
                <a:latin typeface="Times New Roman" panose="02020603050405020304" pitchFamily="18" charset="0"/>
                <a:cs typeface="Times New Roman" panose="02020603050405020304" pitchFamily="18" charset="0"/>
              </a:rPr>
              <a:t>Under the Guidance of,</a:t>
            </a:r>
            <a:endParaRPr lang="en-US" altLang="en-US" b="1" dirty="0">
              <a:solidFill>
                <a:srgbClr val="006600"/>
              </a:solidFill>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endParaRPr lang="en-US" altLang="en-US" sz="900" b="1" dirty="0">
              <a:solidFill>
                <a:schemeClr val="bg1"/>
              </a:solidFill>
              <a:latin typeface="Times New Roman" panose="02020603050405020304" pitchFamily="18" charset="0"/>
              <a:cs typeface="Times New Roman" panose="02020603050405020304" pitchFamily="18" charset="0"/>
            </a:endParaRPr>
          </a:p>
          <a:p>
            <a:pPr algn="ctr">
              <a:spcBef>
                <a:spcPct val="20000"/>
              </a:spcBef>
            </a:pPr>
            <a:r>
              <a:rPr lang="en-US" sz="1600" b="1" dirty="0">
                <a:latin typeface="Times New Roman" panose="02020603050405020304" pitchFamily="18" charset="0"/>
                <a:cs typeface="Times New Roman" panose="02020603050405020304" pitchFamily="18" charset="0"/>
              </a:rPr>
              <a:t>Dr. Moturi </a:t>
            </a:r>
            <a:r>
              <a:rPr lang="en-IN" sz="1600" b="1" dirty="0">
                <a:latin typeface="Times New Roman" panose="02020603050405020304" pitchFamily="18" charset="0"/>
                <a:cs typeface="Times New Roman" panose="02020603050405020304" pitchFamily="18" charset="0"/>
              </a:rPr>
              <a:t>Sireesha</a:t>
            </a:r>
            <a:r>
              <a:rPr lang="en-US" sz="1600" b="1" baseline="-25000" dirty="0">
                <a:latin typeface="Times New Roman" panose="02020603050405020304" pitchFamily="18" charset="0"/>
                <a:cs typeface="Times New Roman" panose="02020603050405020304" pitchFamily="18" charset="0"/>
              </a:rPr>
              <a:t> M.Tech, </a:t>
            </a:r>
            <a:r>
              <a:rPr lang="en-US" sz="1600" b="1" baseline="-25000" dirty="0" err="1">
                <a:latin typeface="Times New Roman" panose="02020603050405020304" pitchFamily="18" charset="0"/>
                <a:cs typeface="Times New Roman" panose="02020603050405020304" pitchFamily="18" charset="0"/>
              </a:rPr>
              <a:t>Ph.D</a:t>
            </a:r>
            <a:endParaRPr lang="en-IN" sz="1600" dirty="0">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Associate Professor,</a:t>
            </a: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Department of Computer Science and Engineering,</a:t>
            </a: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Narasaraopeta Engineering College (Autonomous),</a:t>
            </a: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Narasaraopet- 522 601.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
        <p:nvSpPr>
          <p:cNvPr id="20" name="Date Placeholder 4"/>
          <p:cNvSpPr>
            <a:spLocks noGrp="1"/>
          </p:cNvSpPr>
          <p:nvPr>
            <p:ph type="dt" sz="half" idx="10"/>
          </p:nvPr>
        </p:nvSpPr>
        <p:spPr>
          <a:xfrm>
            <a:off x="838200" y="6356350"/>
            <a:ext cx="2743200" cy="365125"/>
          </a:xfrm>
        </p:spPr>
        <p:txBody>
          <a:bodyPr/>
          <a:lstStyle/>
          <a:p>
            <a:r>
              <a:rPr lang="en-US">
                <a:latin typeface="Times New Roman" panose="02020603050405020304" pitchFamily="18" charset="0"/>
                <a:cs typeface="Times New Roman" panose="02020603050405020304" pitchFamily="18" charset="0"/>
              </a:rPr>
              <a:t>10/11/2025</a:t>
            </a:r>
          </a:p>
        </p:txBody>
      </p:sp>
      <p:sp>
        <p:nvSpPr>
          <p:cNvPr id="21" name="Footer Placeholder 5"/>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Review No.1         Batch No.CB10           Department of CSE</a:t>
            </a:r>
          </a:p>
        </p:txBody>
      </p:sp>
      <p:sp>
        <p:nvSpPr>
          <p:cNvPr id="23" name="Slide Number Placeholder 6"/>
          <p:cNvSpPr>
            <a:spLocks noGrp="1"/>
          </p:cNvSpPr>
          <p:nvPr>
            <p:ph type="sldNum" sz="quarter" idx="12"/>
          </p:nvPr>
        </p:nvSpPr>
        <p:spPr>
          <a:xfrm>
            <a:off x="8610600" y="6356350"/>
            <a:ext cx="2743200" cy="365125"/>
          </a:xfrm>
        </p:spPr>
        <p:txBody>
          <a:bodyPr/>
          <a:lstStyle/>
          <a:p>
            <a:r>
              <a:rPr lang="en-US" dirty="0">
                <a:latin typeface="Times New Roman" panose="02020603050405020304" pitchFamily="18" charset="0"/>
                <a:cs typeface="Times New Roman" panose="02020603050405020304" pitchFamily="18" charset="0"/>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CONTENTS</a:t>
            </a:r>
          </a:p>
        </p:txBody>
      </p:sp>
      <p:sp>
        <p:nvSpPr>
          <p:cNvPr id="9" name="Content Placeholder 8"/>
          <p:cNvSpPr>
            <a:spLocks noGrp="1"/>
          </p:cNvSpPr>
          <p:nvPr>
            <p:ph idx="1"/>
          </p:nvPr>
        </p:nvSpPr>
        <p:spPr>
          <a:xfrm>
            <a:off x="838200" y="1274193"/>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Research Gaps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Block Diagram / Flow Diagram</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Methodology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Results and Analysis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 &amp; Future Scope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Question and Answers</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Acknowledgements</a:t>
            </a: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p:cNvSpPr>
            <a:spLocks noGrp="1"/>
          </p:cNvSpPr>
          <p:nvPr>
            <p:ph idx="1"/>
          </p:nvPr>
        </p:nvSpPr>
        <p:spPr>
          <a:xfrm>
            <a:off x="838200" y="1493134"/>
            <a:ext cx="10515600" cy="4351338"/>
          </a:xfrm>
        </p:spPr>
        <p:txBody>
          <a:bodyPr>
            <a:noAutofit/>
          </a:bodyPr>
          <a:lstStyle/>
          <a:p>
            <a:pPr marL="0" indent="0" algn="just">
              <a:lnSpc>
                <a:spcPct val="100000"/>
              </a:lnSpc>
              <a:buNone/>
            </a:pPr>
            <a:r>
              <a:rPr lang="en-US" sz="2000" dirty="0"/>
              <a:t>Forests are a critical component of the Earth’s ecosystem, yet monitoring them accurately over large areas remains a significant challenge. This research presents an intelligent deep learning (DL) approach using satellite imagery to achieve high-accuracy forest stand detection. The study aims to develop a faster, scalable, and automated forest analysis framework compared to traditional field-based surveys, utilizing the EuroSAT dataset for effective land cover classification. The YOLOv8-nano model was trained and evaluated to assess its capability in identifying forest and non-forest regions. A total of 27,000 satellite images across 10 distinct land-cover classes were used for validation, ensuring diverse and comprehensive data coverage. The model achieved a peak accuracy of 97.5%, demonstrating robust performance and real-time detection capability. These findings highlight the strong potential of the YOLOv8 architecture for environmental monitoring, forest conservation, and sustainable resource management. Overall, this study represents an important step toward integrating artificial intelligence and satellite imagery for efficient and scalable forest observation.</a:t>
            </a:r>
          </a:p>
          <a:p>
            <a:pPr algn="just">
              <a:lnSpc>
                <a:spcPct val="100000"/>
              </a:lnSpc>
              <a:buFont typeface="Wingdings" panose="05000000000000000000" pitchFamily="2" charset="2"/>
              <a:buChar char="v"/>
            </a:pPr>
            <a:endParaRPr lang="en-US" altLang="en-US" sz="18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10/11/2025</a:t>
            </a: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9" name="Content Placeholder 8"/>
          <p:cNvSpPr>
            <a:spLocks noGrp="1"/>
          </p:cNvSpPr>
          <p:nvPr>
            <p:ph idx="1"/>
          </p:nvPr>
        </p:nvSpPr>
        <p:spPr>
          <a:xfrm>
            <a:off x="838200" y="1492250"/>
            <a:ext cx="10515600" cy="4685030"/>
          </a:xfrm>
        </p:spPr>
        <p:txBody>
          <a:bodyPr>
            <a:normAutofit fontScale="97500"/>
          </a:bodyPr>
          <a:lstStyle/>
          <a:p>
            <a:pPr lvl="0"/>
            <a:r>
              <a:rPr lang="en-IN" sz="2100" b="1" dirty="0"/>
              <a:t>Forests play a crucial role</a:t>
            </a:r>
            <a:r>
              <a:rPr lang="en-IN" sz="2100" dirty="0"/>
              <a:t> in carbon storage, biodiversity conservation, climate regulation, and providing economic value.</a:t>
            </a:r>
          </a:p>
          <a:p>
            <a:pPr lvl="0"/>
            <a:r>
              <a:rPr lang="en-IN" sz="2100" b="1" dirty="0"/>
              <a:t>Forest image classification</a:t>
            </a:r>
            <a:r>
              <a:rPr lang="en-IN" sz="2100" dirty="0"/>
              <a:t> is essential for </a:t>
            </a:r>
            <a:r>
              <a:rPr lang="en-IN" sz="2100" b="1" dirty="0"/>
              <a:t>mapping vegetation types</a:t>
            </a:r>
            <a:r>
              <a:rPr lang="en-IN" sz="2100" dirty="0"/>
              <a:t>, </a:t>
            </a:r>
            <a:r>
              <a:rPr lang="en-IN" sz="2100" b="1" dirty="0"/>
              <a:t>monitoring ecosystem health</a:t>
            </a:r>
            <a:r>
              <a:rPr lang="en-IN" sz="2100" dirty="0"/>
              <a:t>, and </a:t>
            </a:r>
            <a:r>
              <a:rPr lang="en-IN" sz="2100" b="1" dirty="0"/>
              <a:t>supporting sustainable forest management</a:t>
            </a:r>
            <a:r>
              <a:rPr lang="en-IN" sz="2100" dirty="0"/>
              <a:t>.</a:t>
            </a:r>
          </a:p>
          <a:p>
            <a:pPr lvl="0"/>
            <a:r>
              <a:rPr lang="en-IN" sz="2100" dirty="0"/>
              <a:t>Traditional methods like </a:t>
            </a:r>
            <a:r>
              <a:rPr lang="en-IN" sz="2100" b="1" dirty="0"/>
              <a:t>manual image interpretation</a:t>
            </a:r>
            <a:r>
              <a:rPr lang="en-IN" sz="2100" dirty="0"/>
              <a:t> and </a:t>
            </a:r>
            <a:r>
              <a:rPr lang="en-IN" sz="2100" b="1" dirty="0"/>
              <a:t>field-based surveys</a:t>
            </a:r>
            <a:r>
              <a:rPr lang="en-IN" sz="2100" dirty="0"/>
              <a:t> provide accurate results but are </a:t>
            </a:r>
            <a:r>
              <a:rPr lang="en-IN" sz="2100" b="1" dirty="0"/>
              <a:t>time-consuming, labor-intensive, and unsuitable for large-scale forest classification</a:t>
            </a:r>
            <a:r>
              <a:rPr lang="en-IN" sz="2100" dirty="0"/>
              <a:t>.</a:t>
            </a:r>
          </a:p>
          <a:p>
            <a:r>
              <a:rPr lang="en-IN" sz="2200" dirty="0"/>
              <a:t> </a:t>
            </a:r>
            <a:r>
              <a:rPr lang="en-IN" sz="2200" b="1" dirty="0"/>
              <a:t>Earth Observation (EO) satellites</a:t>
            </a:r>
            <a:r>
              <a:rPr lang="en-IN" sz="2200" dirty="0"/>
              <a:t> such as </a:t>
            </a:r>
            <a:r>
              <a:rPr lang="en-IN" sz="2200" b="1" dirty="0"/>
              <a:t>Sentinel-2</a:t>
            </a:r>
            <a:r>
              <a:rPr lang="en-IN" sz="2200" dirty="0"/>
              <a:t> and </a:t>
            </a:r>
            <a:r>
              <a:rPr lang="en-IN" sz="2200" b="1" dirty="0"/>
              <a:t>Landsat-8</a:t>
            </a:r>
            <a:r>
              <a:rPr lang="en-IN" sz="2200" dirty="0"/>
              <a:t>, combined with </a:t>
            </a:r>
            <a:r>
              <a:rPr lang="en-IN" sz="2200" b="1" dirty="0"/>
              <a:t>Artificial Intelligence (AI)</a:t>
            </a:r>
            <a:r>
              <a:rPr lang="en-IN" sz="2200" dirty="0"/>
              <a:t>, enable </a:t>
            </a:r>
            <a:r>
              <a:rPr lang="en-IN" sz="2200" b="1" dirty="0"/>
              <a:t>automated and precise forest image classification</a:t>
            </a:r>
            <a:r>
              <a:rPr lang="en-IN" sz="2200" dirty="0"/>
              <a:t>.</a:t>
            </a:r>
          </a:p>
          <a:p>
            <a:r>
              <a:rPr lang="en-IN" sz="2200" dirty="0"/>
              <a:t>The study utilizes </a:t>
            </a:r>
            <a:r>
              <a:rPr lang="en-IN" sz="2200" b="1" dirty="0"/>
              <a:t>YOLOv8</a:t>
            </a:r>
            <a:r>
              <a:rPr lang="en-IN" sz="2200" dirty="0"/>
              <a:t>, an advanced </a:t>
            </a:r>
            <a:r>
              <a:rPr lang="en-IN" sz="2200" b="1" dirty="0"/>
              <a:t>CNN-based model</a:t>
            </a:r>
            <a:r>
              <a:rPr lang="en-IN" sz="2200" dirty="0"/>
              <a:t>, trained on the </a:t>
            </a:r>
            <a:r>
              <a:rPr lang="en-IN" sz="2200" b="1" dirty="0"/>
              <a:t>EuroSAT dataset</a:t>
            </a:r>
            <a:r>
              <a:rPr lang="en-IN" sz="2200" dirty="0"/>
              <a:t> to perform </a:t>
            </a:r>
            <a:r>
              <a:rPr lang="en-IN" sz="2200" b="1" dirty="0"/>
              <a:t>multi-zonal forest classification</a:t>
            </a:r>
            <a:r>
              <a:rPr lang="en-IN" sz="2200" dirty="0"/>
              <a:t> with high accuracy.</a:t>
            </a:r>
          </a:p>
          <a:p>
            <a:r>
              <a:rPr lang="en-IN" sz="2200" dirty="0"/>
              <a:t>A </a:t>
            </a:r>
            <a:r>
              <a:rPr lang="en-IN" sz="2200" b="1" dirty="0"/>
              <a:t>comparative analysis</a:t>
            </a:r>
            <a:r>
              <a:rPr lang="en-IN" sz="2200" dirty="0"/>
              <a:t> between </a:t>
            </a:r>
            <a:r>
              <a:rPr lang="en-IN" sz="2200" b="1" dirty="0"/>
              <a:t>YOLOv8n and EfficientNet-B4</a:t>
            </a:r>
            <a:r>
              <a:rPr lang="en-IN" sz="2200" dirty="0"/>
              <a:t> evaluates performance using </a:t>
            </a:r>
            <a:r>
              <a:rPr lang="en-IN" sz="2200" b="1" dirty="0"/>
              <a:t>accuracy, precision, recall, and F1-score</a:t>
            </a:r>
            <a:r>
              <a:rPr lang="en-IN" sz="2200" dirty="0"/>
              <a:t> metrics on </a:t>
            </a:r>
            <a:r>
              <a:rPr lang="en-IN" sz="2200" b="1" dirty="0"/>
              <a:t>27,000 satellite images</a:t>
            </a:r>
            <a:r>
              <a:rPr lang="en-IN" sz="2200" dirty="0"/>
              <a:t>.</a:t>
            </a:r>
          </a:p>
          <a:p>
            <a:pPr>
              <a:buClrTx/>
              <a:buFont typeface="Wingdings" panose="05000000000000000000" pitchFamily="2" charset="2"/>
              <a:buChar char="v"/>
            </a:pPr>
            <a:endParaRPr lang="en-US" sz="222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6"/>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p:cNvSpPr>
            <a:spLocks noGrp="1"/>
          </p:cNvSpPr>
          <p:nvPr>
            <p:ph idx="1"/>
          </p:nvPr>
        </p:nvSpPr>
        <p:spPr>
          <a:xfrm>
            <a:off x="838200" y="1825624"/>
            <a:ext cx="10515600" cy="4530725"/>
          </a:xfrm>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p:cNvGraphicFramePr>
            <a:graphicFrameLocks noGrp="1"/>
          </p:cNvGraphicFramePr>
          <p:nvPr>
            <p:extLst>
              <p:ext uri="{D42A27DB-BD31-4B8C-83A1-F6EECF244321}">
                <p14:modId xmlns:p14="http://schemas.microsoft.com/office/powerpoint/2010/main" val="4076212087"/>
              </p:ext>
            </p:extLst>
          </p:nvPr>
        </p:nvGraphicFramePr>
        <p:xfrm>
          <a:off x="685800" y="927280"/>
          <a:ext cx="11191240" cy="5696841"/>
        </p:xfrm>
        <a:graphic>
          <a:graphicData uri="http://schemas.openxmlformats.org/drawingml/2006/table">
            <a:tbl>
              <a:tblPr firstRow="1" bandRow="1">
                <a:tableStyleId>{17292A2E-F333-43FB-9621-5CBBE7FDCDCB}</a:tableStyleId>
              </a:tblPr>
              <a:tblGrid>
                <a:gridCol w="628920">
                  <a:extLst>
                    <a:ext uri="{9D8B030D-6E8A-4147-A177-3AD203B41FA5}">
                      <a16:colId xmlns:a16="http://schemas.microsoft.com/office/drawing/2014/main" val="20000"/>
                    </a:ext>
                  </a:extLst>
                </a:gridCol>
                <a:gridCol w="2010191">
                  <a:extLst>
                    <a:ext uri="{9D8B030D-6E8A-4147-A177-3AD203B41FA5}">
                      <a16:colId xmlns:a16="http://schemas.microsoft.com/office/drawing/2014/main" val="20001"/>
                    </a:ext>
                  </a:extLst>
                </a:gridCol>
                <a:gridCol w="1479830">
                  <a:extLst>
                    <a:ext uri="{9D8B030D-6E8A-4147-A177-3AD203B41FA5}">
                      <a16:colId xmlns:a16="http://schemas.microsoft.com/office/drawing/2014/main" val="20002"/>
                    </a:ext>
                  </a:extLst>
                </a:gridCol>
                <a:gridCol w="1923390">
                  <a:extLst>
                    <a:ext uri="{9D8B030D-6E8A-4147-A177-3AD203B41FA5}">
                      <a16:colId xmlns:a16="http://schemas.microsoft.com/office/drawing/2014/main" val="20003"/>
                    </a:ext>
                  </a:extLst>
                </a:gridCol>
                <a:gridCol w="1951413">
                  <a:extLst>
                    <a:ext uri="{9D8B030D-6E8A-4147-A177-3AD203B41FA5}">
                      <a16:colId xmlns:a16="http://schemas.microsoft.com/office/drawing/2014/main" val="20004"/>
                    </a:ext>
                  </a:extLst>
                </a:gridCol>
                <a:gridCol w="1598748">
                  <a:extLst>
                    <a:ext uri="{9D8B030D-6E8A-4147-A177-3AD203B41FA5}">
                      <a16:colId xmlns:a16="http://schemas.microsoft.com/office/drawing/2014/main" val="20005"/>
                    </a:ext>
                  </a:extLst>
                </a:gridCol>
                <a:gridCol w="1598748">
                  <a:extLst>
                    <a:ext uri="{9D8B030D-6E8A-4147-A177-3AD203B41FA5}">
                      <a16:colId xmlns:a16="http://schemas.microsoft.com/office/drawing/2014/main" val="20006"/>
                    </a:ext>
                  </a:extLst>
                </a:gridCol>
              </a:tblGrid>
              <a:tr h="558650">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17299">
                <a:tc>
                  <a:txBody>
                    <a:bodyPr/>
                    <a:lstStyle/>
                    <a:p>
                      <a:r>
                        <a:rPr lang="en-US" sz="1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A Deep Learning Approach to Estimate Canopy Height and Uncertainty</a:t>
                      </a:r>
                    </a:p>
                    <a:p>
                      <a:pPr algn="ctr" fontAlgn="ctr"/>
                      <a:endParaRPr sz="1400" b="0" i="0" dirty="0">
                        <a:solidFill>
                          <a:srgbClr val="000000"/>
                        </a:solidFill>
                        <a:latin typeface="Times New Roman" panose="02020603050405020304"/>
                        <a:ea typeface="Times New Roman" panose="02020603050405020304"/>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 </a:t>
                      </a:r>
                      <a:r>
                        <a:rPr lang="en-US" altLang="en-US" sz="1400" dirty="0"/>
                        <a:t>Subham Raj,   Anurag Sharma,                                 and          Sriparna Saha</a:t>
                      </a:r>
                    </a:p>
                    <a:p>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arXiv</a:t>
                      </a:r>
                      <a:r>
                        <a:rPr lang="en-US" altLang="en-US" sz="1400" dirty="0"/>
                        <a:t>(2024)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Times New Roman" panose="02020603050405020304" pitchFamily="18" charset="0"/>
                          <a:cs typeface="Times New Roman" panose="02020603050405020304" pitchFamily="18" charset="0"/>
                        </a:rPr>
                        <a:t> ResUNet (CNN architecture with skip connections and regression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dirty="0">
                          <a:solidFill>
                            <a:srgbClr val="000000"/>
                          </a:solidFill>
                          <a:latin typeface="Times New Roman" panose="02020603050405020304"/>
                          <a:ea typeface="Times New Roman" panose="02020603050405020304"/>
                        </a:rPr>
                        <a:t>Explained variance improved by 10% using multi-seasonal data</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Overestimation in sparse/short canopy regions</a:t>
                      </a:r>
                    </a:p>
                    <a:p>
                      <a:r>
                        <a:rPr lang="en-US" altLang="en-US" sz="1400" dirty="0">
                          <a:latin typeface="Times New Roman" panose="02020603050405020304" pitchFamily="18" charset="0"/>
                          <a:cs typeface="Times New Roman" panose="02020603050405020304" pitchFamily="18" charset="0"/>
                        </a:rPr>
                        <a:t>Uncertainty in SAR-affected areas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11481">
                <a:tc>
                  <a:txBody>
                    <a:bodyPr/>
                    <a:lstStyle/>
                    <a:p>
                      <a:r>
                        <a:rPr lang="en-US" sz="1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Dual-Task Learning for Dead Tree Detection and Segmentation</a:t>
                      </a:r>
                    </a:p>
                    <a:p>
                      <a:pPr algn="ctr" fontAlgn="ctr"/>
                      <a:endParaRPr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Anis Ur Rahman Einari Heinaro Mete Ahishali </a:t>
                      </a:r>
                    </a:p>
                    <a:p>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t>International Journal of Applied Earth Observation and Geoinformation</a:t>
                      </a:r>
                      <a:r>
                        <a:rPr lang="en-US" sz="1400" dirty="0"/>
                        <a:t>(2025)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Hybrid Self-Attention U-Net ,Watershed postprocessing framework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 Effective in densely vegetated and overlapping canopy zones</a:t>
                      </a:r>
                      <a:endParaRPr sz="12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latin typeface="Times New Roman" panose="02020603050405020304" pitchFamily="18" charset="0"/>
                          <a:cs typeface="Times New Roman" panose="02020603050405020304" pitchFamily="18" charset="0"/>
                        </a:rPr>
                        <a:t>Limited by availability of NIR bands and generalizability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91572">
                <a:tc>
                  <a:txBody>
                    <a:bodyPr/>
                    <a:lstStyle/>
                    <a:p>
                      <a:r>
                        <a:rPr lang="en-US" sz="1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Data Augmentation in Earth Observation: A Diffusion Model Approach</a:t>
                      </a:r>
                      <a:endParaRPr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Tiago Sousa Benoit Ries Nicolas Guelfi </a:t>
                      </a:r>
                    </a:p>
                    <a:p>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IN" sz="1400" dirty="0"/>
                        <a:t>MDPI AG</a:t>
                      </a:r>
                      <a:r>
                        <a:rPr lang="en-IN" sz="1400" dirty="0"/>
                        <a:t> (202</a:t>
                      </a:r>
                      <a:r>
                        <a:rPr lang="en-US" sz="1400" dirty="0"/>
                        <a:t>5</a:t>
                      </a:r>
                      <a:r>
                        <a:rPr lang="en-IN" sz="1400" dirty="0"/>
                        <a:t>)</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EO Diffusion Model with captioning &amp; SatMAE backbones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Outperformed traditional and GAN-based augmentations</a:t>
                      </a:r>
                      <a:endParaRPr sz="12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t>High computation-</a:t>
                      </a:r>
                    </a:p>
                    <a:p>
                      <a:r>
                        <a:rPr lang="en-US" altLang="en-US" sz="1400" b="1" dirty="0"/>
                        <a:t>al cost Needs more forest-type augmentations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038586">
                <a:tc>
                  <a:txBody>
                    <a:bodyPr/>
                    <a:lstStyle/>
                    <a:p>
                      <a:r>
                        <a:rPr lang="en-US" sz="1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Landsat-Bench: Datasets and Benchmarks for Landsat Foundation Models</a:t>
                      </a:r>
                    </a:p>
                    <a:p>
                      <a:pPr algn="ctr" fontAlgn="ctr"/>
                      <a:endParaRPr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Isaac Corley, Lakshay Sharma, Ruth Crasto</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ICML(2025)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t>Geospatial Foundation Models</a:t>
                      </a:r>
                    </a:p>
                    <a:p>
                      <a:r>
                        <a:rPr lang="en-US" altLang="en-US" sz="1400" b="0" dirty="0"/>
                        <a:t>SSL4EO-L Pretrained Networks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 GFMs outperformed ImageNet-pretrained models by 4–5% in accuracy</a:t>
                      </a:r>
                    </a:p>
                    <a:p>
                      <a:pPr algn="ctr" fontAlgn="ctr"/>
                      <a:r>
                        <a:rPr lang="en-US" sz="10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Enabled Landsat-based evaluation standard for EO tasks</a:t>
                      </a:r>
                      <a:endParaRPr sz="10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t> Lacks real-time performance </a:t>
                      </a:r>
                    </a:p>
                    <a:p>
                      <a:r>
                        <a:rPr lang="en-US" altLang="en-US" sz="1400" b="1" dirty="0"/>
                        <a:t>Dataset coverage still limited in some regions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911481">
                <a:tc>
                  <a:txBody>
                    <a:bodyPr/>
                    <a:lstStyle/>
                    <a:p>
                      <a:r>
                        <a:rPr lang="en-US" sz="14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Satellite-Based Forest Stand Detection Using Artificial Intelligence</a:t>
                      </a:r>
                    </a:p>
                    <a:p>
                      <a:pPr algn="ctr" fontAlgn="ctr"/>
                      <a:endParaRPr sz="12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Patrik Kovacovic, Rastislav Pirnik, Julia Kafkova, </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IEEE</a:t>
                      </a:r>
                      <a:r>
                        <a:rPr lang="en-US" sz="1400" dirty="0">
                          <a:latin typeface="Times New Roman" panose="02020603050405020304" pitchFamily="18" charset="0"/>
                          <a:cs typeface="Times New Roman" panose="02020603050405020304" pitchFamily="18" charset="0"/>
                        </a:rPr>
                        <a:t>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t> YOLOv5, YOLOv8, Mask R-CNN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rPr>
                        <a:t> Effective in recognizing forests, roads, buildings from satellite imagery</a:t>
                      </a:r>
                      <a:endParaRPr sz="1400" b="0" i="0" dirty="0">
                        <a:solidFill>
                          <a:srgbClr val="000000"/>
                        </a:solidFill>
                        <a:latin typeface="Times New Roman" panose="02020603050405020304" pitchFamily="18" charset="0"/>
                        <a:ea typeface="Microsoft Sans Serif" panose="020B0604020202020204"/>
                        <a:cs typeface="Times New Roman" panose="02020603050405020304" pitchFamily="18" charset="0"/>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1" dirty="0"/>
                        <a:t>Generalization to other geographies needs 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sp>
        <p:nvSpPr>
          <p:cNvPr id="11" name="Content Placeholder 2"/>
          <p:cNvSpPr txBox="1"/>
          <p:nvPr/>
        </p:nvSpPr>
        <p:spPr>
          <a:xfrm>
            <a:off x="914400" y="1520120"/>
            <a:ext cx="10515600" cy="42405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b="1" dirty="0">
                <a:latin typeface="Times New Roman" panose="02020603050405020304" pitchFamily="18" charset="0"/>
                <a:cs typeface="Times New Roman" panose="02020603050405020304" pitchFamily="18" charset="0"/>
              </a:rPr>
              <a:t>Previous studies</a:t>
            </a:r>
            <a:r>
              <a:rPr lang="en-IN" sz="2400" dirty="0">
                <a:latin typeface="Times New Roman" panose="02020603050405020304" pitchFamily="18" charset="0"/>
                <a:cs typeface="Times New Roman" panose="02020603050405020304" pitchFamily="18" charset="0"/>
              </a:rPr>
              <a:t> used deep learning models such as </a:t>
            </a:r>
            <a:r>
              <a:rPr lang="en-IN" sz="2400" b="1" dirty="0">
                <a:latin typeface="Times New Roman" panose="02020603050405020304" pitchFamily="18" charset="0"/>
                <a:cs typeface="Times New Roman" panose="02020603050405020304" pitchFamily="18" charset="0"/>
              </a:rPr>
              <a:t>YOLOv5</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Mask R-CNN</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EfficientNet</a:t>
            </a:r>
            <a:r>
              <a:rPr lang="en-IN" sz="2400" dirty="0">
                <a:latin typeface="Times New Roman" panose="02020603050405020304" pitchFamily="18" charset="0"/>
                <a:cs typeface="Times New Roman" panose="02020603050405020304" pitchFamily="18" charset="0"/>
              </a:rPr>
              <a:t> for </a:t>
            </a:r>
            <a:r>
              <a:rPr lang="en-IN" sz="2400" b="1" dirty="0">
                <a:latin typeface="Times New Roman" panose="02020603050405020304" pitchFamily="18" charset="0"/>
                <a:cs typeface="Times New Roman" panose="02020603050405020304" pitchFamily="18" charset="0"/>
              </a:rPr>
              <a:t>forest detection</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classification</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These models achieved </a:t>
            </a:r>
            <a:r>
              <a:rPr lang="en-IN" sz="2400" b="1" dirty="0">
                <a:latin typeface="Times New Roman" panose="02020603050405020304" pitchFamily="18" charset="0"/>
                <a:cs typeface="Times New Roman" panose="02020603050405020304" pitchFamily="18" charset="0"/>
              </a:rPr>
              <a:t>good accuracy</a:t>
            </a:r>
            <a:r>
              <a:rPr lang="en-IN" sz="2400" dirty="0">
                <a:latin typeface="Times New Roman" panose="02020603050405020304" pitchFamily="18" charset="0"/>
                <a:cs typeface="Times New Roman" panose="02020603050405020304" pitchFamily="18" charset="0"/>
              </a:rPr>
              <a:t>, but often required </a:t>
            </a:r>
            <a:r>
              <a:rPr lang="en-IN" sz="2400" b="1" dirty="0">
                <a:latin typeface="Times New Roman" panose="02020603050405020304" pitchFamily="18" charset="0"/>
                <a:cs typeface="Times New Roman" panose="02020603050405020304" pitchFamily="18" charset="0"/>
              </a:rPr>
              <a:t>high computational power</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long training times</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Some research focused on </a:t>
            </a:r>
            <a:r>
              <a:rPr lang="en-IN" sz="2400" b="1" dirty="0">
                <a:latin typeface="Times New Roman" panose="02020603050405020304" pitchFamily="18" charset="0"/>
                <a:cs typeface="Times New Roman" panose="02020603050405020304" pitchFamily="18" charset="0"/>
              </a:rPr>
              <a:t>forest fire detection</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deforestation alerts</a:t>
            </a:r>
            <a:r>
              <a:rPr lang="en-IN" sz="2400" dirty="0">
                <a:latin typeface="Times New Roman" panose="02020603050405020304" pitchFamily="18" charset="0"/>
                <a:cs typeface="Times New Roman" panose="02020603050405020304" pitchFamily="18" charset="0"/>
              </a:rPr>
              <a:t>, highlighting the </a:t>
            </a:r>
            <a:r>
              <a:rPr lang="en-IN" sz="2400" b="1" dirty="0">
                <a:latin typeface="Times New Roman" panose="02020603050405020304" pitchFamily="18" charset="0"/>
                <a:cs typeface="Times New Roman" panose="02020603050405020304" pitchFamily="18" charset="0"/>
              </a:rPr>
              <a:t>potential of AI</a:t>
            </a:r>
            <a:r>
              <a:rPr lang="en-IN" sz="2400" dirty="0">
                <a:latin typeface="Times New Roman" panose="02020603050405020304" pitchFamily="18" charset="0"/>
                <a:cs typeface="Times New Roman" panose="02020603050405020304" pitchFamily="18" charset="0"/>
              </a:rPr>
              <a:t> in </a:t>
            </a:r>
            <a:r>
              <a:rPr lang="en-IN" sz="2400" b="1" dirty="0">
                <a:latin typeface="Times New Roman" panose="02020603050405020304" pitchFamily="18" charset="0"/>
                <a:cs typeface="Times New Roman" panose="02020603050405020304" pitchFamily="18" charset="0"/>
              </a:rPr>
              <a:t>environmental monitoring</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Only a </a:t>
            </a:r>
            <a:r>
              <a:rPr lang="en-IN" sz="2400" b="1" dirty="0">
                <a:latin typeface="Times New Roman" panose="02020603050405020304" pitchFamily="18" charset="0"/>
                <a:cs typeface="Times New Roman" panose="02020603050405020304" pitchFamily="18" charset="0"/>
              </a:rPr>
              <a:t>few studies</a:t>
            </a:r>
            <a:r>
              <a:rPr lang="en-IN" sz="2400" dirty="0">
                <a:latin typeface="Times New Roman" panose="02020603050405020304" pitchFamily="18" charset="0"/>
                <a:cs typeface="Times New Roman" panose="02020603050405020304" pitchFamily="18" charset="0"/>
              </a:rPr>
              <a:t> have implemented </a:t>
            </a:r>
            <a:r>
              <a:rPr lang="en-IN" sz="2400" b="1" dirty="0">
                <a:latin typeface="Times New Roman" panose="02020603050405020304" pitchFamily="18" charset="0"/>
                <a:cs typeface="Times New Roman" panose="02020603050405020304" pitchFamily="18" charset="0"/>
              </a:rPr>
              <a:t>advanced YOLOv8 models</a:t>
            </a:r>
            <a:r>
              <a:rPr lang="en-IN" sz="2400" dirty="0">
                <a:latin typeface="Times New Roman" panose="02020603050405020304" pitchFamily="18" charset="0"/>
                <a:cs typeface="Times New Roman" panose="02020603050405020304" pitchFamily="18" charset="0"/>
              </a:rPr>
              <a:t> specifically for </a:t>
            </a:r>
            <a:r>
              <a:rPr lang="en-IN" sz="2400" b="1" dirty="0">
                <a:latin typeface="Times New Roman" panose="02020603050405020304" pitchFamily="18" charset="0"/>
                <a:cs typeface="Times New Roman" panose="02020603050405020304" pitchFamily="18" charset="0"/>
              </a:rPr>
              <a:t>detailed forest type classification</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present work</a:t>
            </a:r>
            <a:r>
              <a:rPr lang="en-IN" sz="2400" dirty="0">
                <a:latin typeface="Times New Roman" panose="02020603050405020304" pitchFamily="18" charset="0"/>
                <a:cs typeface="Times New Roman" panose="02020603050405020304" pitchFamily="18" charset="0"/>
              </a:rPr>
              <a:t> introduces </a:t>
            </a:r>
            <a:r>
              <a:rPr lang="en-IN" sz="2400" b="1" dirty="0">
                <a:latin typeface="Times New Roman" panose="02020603050405020304" pitchFamily="18" charset="0"/>
                <a:cs typeface="Times New Roman" panose="02020603050405020304" pitchFamily="18" charset="0"/>
              </a:rPr>
              <a:t>new model combinations</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enhanced preprocessing techniques</a:t>
            </a:r>
            <a:r>
              <a:rPr lang="en-IN" sz="2400" dirty="0">
                <a:latin typeface="Times New Roman" panose="02020603050405020304" pitchFamily="18" charset="0"/>
                <a:cs typeface="Times New Roman" panose="02020603050405020304" pitchFamily="18" charset="0"/>
              </a:rPr>
              <a:t> to achieve </a:t>
            </a:r>
            <a:r>
              <a:rPr lang="en-IN" sz="2400" b="1" dirty="0">
                <a:latin typeface="Times New Roman" panose="02020603050405020304" pitchFamily="18" charset="0"/>
                <a:cs typeface="Times New Roman" panose="02020603050405020304" pitchFamily="18" charset="0"/>
              </a:rPr>
              <a:t>higher accuracy</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faster performance</a:t>
            </a:r>
            <a:r>
              <a:rPr lang="en-IN" sz="2400" dirty="0">
                <a:latin typeface="Times New Roman" panose="02020603050405020304" pitchFamily="18" charset="0"/>
                <a:cs typeface="Times New Roman" panose="02020603050405020304" pitchFamily="18" charset="0"/>
              </a:rPr>
              <a:t>.</a:t>
            </a:r>
          </a:p>
          <a:p>
            <a:pPr marL="457200" indent="-457200">
              <a:lnSpc>
                <a:spcPct val="100000"/>
              </a:lnSpc>
              <a:buFont typeface="+mj-lt"/>
              <a:buAutoNum type="arabicPeriod"/>
            </a:pPr>
            <a:endParaRPr lang="en-US" altLang="en-US" sz="2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p:cNvSpPr>
            <a:spLocks noGrp="1"/>
          </p:cNvSpPr>
          <p:nvPr>
            <p:ph idx="1"/>
          </p:nvPr>
        </p:nvSpPr>
        <p:spPr>
          <a:xfrm>
            <a:off x="838200" y="1351915"/>
            <a:ext cx="10515600" cy="4825365"/>
          </a:xfrm>
        </p:spPr>
        <p:txBody>
          <a:bodyPr>
            <a:normAutofit fontScale="85000" lnSpcReduction="20000"/>
          </a:bodyPr>
          <a:lstStyle/>
          <a:p>
            <a:r>
              <a:rPr lang="en-IN" dirty="0"/>
              <a:t>Previous studies focused on </a:t>
            </a:r>
            <a:r>
              <a:rPr lang="en-IN" b="1" dirty="0"/>
              <a:t>general land-use classification</a:t>
            </a:r>
            <a:r>
              <a:rPr lang="en-IN" dirty="0"/>
              <a:t> rather than forest-specific detection.</a:t>
            </a:r>
          </a:p>
          <a:p>
            <a:r>
              <a:rPr lang="en-IN" b="1" dirty="0"/>
              <a:t>Real-time forest monitoring</a:t>
            </a:r>
            <a:r>
              <a:rPr lang="en-IN" dirty="0"/>
              <a:t> using deep learning models was not explored adequately.</a:t>
            </a:r>
          </a:p>
          <a:p>
            <a:r>
              <a:rPr lang="en-IN" b="1" dirty="0"/>
              <a:t>YOLOv8 models</a:t>
            </a:r>
            <a:r>
              <a:rPr lang="en-IN" dirty="0"/>
              <a:t> were not previously applied or compared for satellite-based forest classification.</a:t>
            </a:r>
          </a:p>
          <a:p>
            <a:r>
              <a:rPr lang="en-IN" dirty="0"/>
              <a:t>Earlier works did not evaluate the </a:t>
            </a:r>
            <a:r>
              <a:rPr lang="en-IN" b="1" dirty="0"/>
              <a:t>trade-off between accuracy, speed, and computational cost</a:t>
            </a:r>
            <a:r>
              <a:rPr lang="en-IN" dirty="0"/>
              <a:t>.</a:t>
            </a:r>
          </a:p>
          <a:p>
            <a:r>
              <a:rPr lang="en-IN" b="1" dirty="0"/>
              <a:t>Preprocessing and data augmentation</a:t>
            </a:r>
            <a:r>
              <a:rPr lang="en-IN" dirty="0"/>
              <a:t> techniques were underutilized in prior research.</a:t>
            </a:r>
          </a:p>
          <a:p>
            <a:r>
              <a:rPr lang="en-IN" dirty="0"/>
              <a:t>Only a </a:t>
            </a:r>
            <a:r>
              <a:rPr lang="en-IN" b="1" dirty="0"/>
              <a:t>few studies</a:t>
            </a:r>
            <a:r>
              <a:rPr lang="en-IN" dirty="0"/>
              <a:t> have implemented </a:t>
            </a:r>
            <a:r>
              <a:rPr lang="en-IN" b="1" dirty="0"/>
              <a:t>advanced YOLOv8 models</a:t>
            </a:r>
            <a:r>
              <a:rPr lang="en-IN" dirty="0"/>
              <a:t> specifically for </a:t>
            </a:r>
            <a:r>
              <a:rPr lang="en-IN" b="1" dirty="0"/>
              <a:t>detailed forest type classification</a:t>
            </a:r>
            <a:r>
              <a:rPr lang="en-IN" dirty="0"/>
              <a:t>.</a:t>
            </a:r>
          </a:p>
          <a:p>
            <a:r>
              <a:rPr lang="en-IN" dirty="0"/>
              <a:t>The </a:t>
            </a:r>
            <a:r>
              <a:rPr lang="en-IN" b="1" dirty="0"/>
              <a:t>present work</a:t>
            </a:r>
            <a:r>
              <a:rPr lang="en-IN" dirty="0"/>
              <a:t> introduces </a:t>
            </a:r>
            <a:r>
              <a:rPr lang="en-IN" b="1" dirty="0"/>
              <a:t>new model combinations</a:t>
            </a:r>
            <a:r>
              <a:rPr lang="en-IN" dirty="0"/>
              <a:t> and </a:t>
            </a:r>
            <a:r>
              <a:rPr lang="en-IN" b="1" dirty="0"/>
              <a:t>enhanced preprocessing techniques</a:t>
            </a:r>
            <a:r>
              <a:rPr lang="en-IN" dirty="0"/>
              <a:t> to achieve </a:t>
            </a:r>
            <a:r>
              <a:rPr lang="en-IN" b="1" dirty="0"/>
              <a:t>higher accuracy</a:t>
            </a:r>
            <a:r>
              <a:rPr lang="en-IN" dirty="0"/>
              <a:t> and </a:t>
            </a:r>
            <a:r>
              <a:rPr lang="en-IN" b="1" dirty="0"/>
              <a:t>faster performance</a:t>
            </a:r>
            <a:r>
              <a:rPr lang="en-IN" dirty="0"/>
              <a:t>.</a:t>
            </a:r>
          </a:p>
          <a:p>
            <a:pPr marL="0" indent="0">
              <a:buNone/>
            </a:pPr>
            <a:endParaRPr lang="en-IN" dirty="0"/>
          </a:p>
          <a:p>
            <a:pPr marL="0" indent="0">
              <a:lnSpc>
                <a:spcPct val="150000"/>
              </a:lnSpc>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9" name="Content Placeholder 8"/>
          <p:cNvSpPr>
            <a:spLocks noGrp="1"/>
          </p:cNvSpPr>
          <p:nvPr>
            <p:ph idx="1"/>
          </p:nvPr>
        </p:nvSpPr>
        <p:spPr>
          <a:xfrm>
            <a:off x="838200" y="1492250"/>
            <a:ext cx="10515600" cy="4685030"/>
          </a:xfrm>
        </p:spPr>
        <p:txBody>
          <a:bodyPr>
            <a:normAutofit fontScale="97500"/>
          </a:bodyPr>
          <a:lstStyle/>
          <a:p>
            <a:pPr lvl="0"/>
            <a:r>
              <a:rPr lang="en-IN" sz="2600" dirty="0">
                <a:latin typeface="Times New Roman" panose="02020603050405020304" pitchFamily="18" charset="0"/>
                <a:cs typeface="Times New Roman" panose="02020603050405020304" pitchFamily="18" charset="0"/>
              </a:rPr>
              <a:t>Accurate </a:t>
            </a:r>
            <a:r>
              <a:rPr lang="en-IN" sz="2600" b="1" dirty="0">
                <a:latin typeface="Times New Roman" panose="02020603050405020304" pitchFamily="18" charset="0"/>
                <a:cs typeface="Times New Roman" panose="02020603050405020304" pitchFamily="18" charset="0"/>
              </a:rPr>
              <a:t>forest stand monitoring</a:t>
            </a:r>
            <a:r>
              <a:rPr lang="en-IN" sz="2600" dirty="0">
                <a:latin typeface="Times New Roman" panose="02020603050405020304" pitchFamily="18" charset="0"/>
                <a:cs typeface="Times New Roman" panose="02020603050405020304" pitchFamily="18" charset="0"/>
              </a:rPr>
              <a:t> across large areas remains difficult using </a:t>
            </a:r>
            <a:r>
              <a:rPr lang="en-IN" sz="2600" b="1" dirty="0">
                <a:latin typeface="Times New Roman" panose="02020603050405020304" pitchFamily="18" charset="0"/>
                <a:cs typeface="Times New Roman" panose="02020603050405020304" pitchFamily="18" charset="0"/>
              </a:rPr>
              <a:t>traditional field surveys</a:t>
            </a:r>
            <a:r>
              <a:rPr lang="en-IN" sz="2600" dirty="0">
                <a:latin typeface="Times New Roman" panose="02020603050405020304" pitchFamily="18" charset="0"/>
                <a:cs typeface="Times New Roman" panose="02020603050405020304" pitchFamily="18" charset="0"/>
              </a:rPr>
              <a:t> due to time and cost constraints.</a:t>
            </a:r>
          </a:p>
          <a:p>
            <a:pPr lvl="0"/>
            <a:r>
              <a:rPr lang="en-IN" sz="2600" dirty="0">
                <a:latin typeface="Times New Roman" panose="02020603050405020304" pitchFamily="18" charset="0"/>
                <a:cs typeface="Times New Roman" panose="02020603050405020304" pitchFamily="18" charset="0"/>
              </a:rPr>
              <a:t>Existing </a:t>
            </a:r>
            <a:r>
              <a:rPr lang="en-IN" sz="2600" b="1" dirty="0">
                <a:latin typeface="Times New Roman" panose="02020603050405020304" pitchFamily="18" charset="0"/>
                <a:cs typeface="Times New Roman" panose="02020603050405020304" pitchFamily="18" charset="0"/>
              </a:rPr>
              <a:t>deep learning models</a:t>
            </a:r>
            <a:r>
              <a:rPr lang="en-IN" sz="2600" dirty="0">
                <a:latin typeface="Times New Roman" panose="02020603050405020304" pitchFamily="18" charset="0"/>
                <a:cs typeface="Times New Roman" panose="02020603050405020304" pitchFamily="18" charset="0"/>
              </a:rPr>
              <a:t> provide good accuracy but suffer from </a:t>
            </a:r>
            <a:r>
              <a:rPr lang="en-IN" sz="2600" b="1" dirty="0">
                <a:latin typeface="Times New Roman" panose="02020603050405020304" pitchFamily="18" charset="0"/>
                <a:cs typeface="Times New Roman" panose="02020603050405020304" pitchFamily="18" charset="0"/>
              </a:rPr>
              <a:t>high computational requirements</a:t>
            </a:r>
            <a:r>
              <a:rPr lang="en-IN" sz="2600" dirty="0">
                <a:latin typeface="Times New Roman" panose="02020603050405020304" pitchFamily="18" charset="0"/>
                <a:cs typeface="Times New Roman" panose="02020603050405020304" pitchFamily="18" charset="0"/>
              </a:rPr>
              <a:t> and </a:t>
            </a:r>
            <a:r>
              <a:rPr lang="en-IN" sz="2600" b="1" dirty="0">
                <a:latin typeface="Times New Roman" panose="02020603050405020304" pitchFamily="18" charset="0"/>
                <a:cs typeface="Times New Roman" panose="02020603050405020304" pitchFamily="18" charset="0"/>
              </a:rPr>
              <a:t>slow processing</a:t>
            </a:r>
            <a:r>
              <a:rPr lang="en-IN" sz="2600" dirty="0">
                <a:latin typeface="Times New Roman" panose="02020603050405020304" pitchFamily="18" charset="0"/>
                <a:cs typeface="Times New Roman" panose="02020603050405020304" pitchFamily="18" charset="0"/>
              </a:rPr>
              <a:t>.</a:t>
            </a:r>
          </a:p>
          <a:p>
            <a:pPr lvl="0"/>
            <a:r>
              <a:rPr lang="en-IN" sz="2600" dirty="0">
                <a:latin typeface="Times New Roman" panose="02020603050405020304" pitchFamily="18" charset="0"/>
                <a:cs typeface="Times New Roman" panose="02020603050405020304" pitchFamily="18" charset="0"/>
              </a:rPr>
              <a:t>Most current approaches lack </a:t>
            </a:r>
            <a:r>
              <a:rPr lang="en-IN" sz="2600" b="1" dirty="0">
                <a:latin typeface="Times New Roman" panose="02020603050405020304" pitchFamily="18" charset="0"/>
                <a:cs typeface="Times New Roman" panose="02020603050405020304" pitchFamily="18" charset="0"/>
              </a:rPr>
              <a:t>real-time detection</a:t>
            </a:r>
            <a:r>
              <a:rPr lang="en-IN" sz="2600" dirty="0">
                <a:latin typeface="Times New Roman" panose="02020603050405020304" pitchFamily="18" charset="0"/>
                <a:cs typeface="Times New Roman" panose="02020603050405020304" pitchFamily="18" charset="0"/>
              </a:rPr>
              <a:t> and </a:t>
            </a:r>
            <a:r>
              <a:rPr lang="en-IN" sz="2600" b="1" dirty="0">
                <a:latin typeface="Times New Roman" panose="02020603050405020304" pitchFamily="18" charset="0"/>
                <a:cs typeface="Times New Roman" panose="02020603050405020304" pitchFamily="18" charset="0"/>
              </a:rPr>
              <a:t>multi-class land-cover classification</a:t>
            </a:r>
            <a:r>
              <a:rPr lang="en-IN" sz="2600" dirty="0">
                <a:latin typeface="Times New Roman" panose="02020603050405020304" pitchFamily="18" charset="0"/>
                <a:cs typeface="Times New Roman" panose="02020603050405020304" pitchFamily="18" charset="0"/>
              </a:rPr>
              <a:t> capabilities.</a:t>
            </a:r>
          </a:p>
          <a:p>
            <a:pPr lvl="0"/>
            <a:r>
              <a:rPr lang="en-IN" sz="2600" dirty="0">
                <a:latin typeface="Times New Roman" panose="02020603050405020304" pitchFamily="18" charset="0"/>
                <a:cs typeface="Times New Roman" panose="02020603050405020304" pitchFamily="18" charset="0"/>
              </a:rPr>
              <a:t>There is a need for a </a:t>
            </a:r>
            <a:r>
              <a:rPr lang="en-IN" sz="2600" b="1" dirty="0">
                <a:latin typeface="Times New Roman" panose="02020603050405020304" pitchFamily="18" charset="0"/>
                <a:cs typeface="Times New Roman" panose="02020603050405020304" pitchFamily="18" charset="0"/>
              </a:rPr>
              <a:t>lightweight, high-accuracy model</a:t>
            </a:r>
            <a:r>
              <a:rPr lang="en-IN" sz="2600" dirty="0">
                <a:latin typeface="Times New Roman" panose="02020603050405020304" pitchFamily="18" charset="0"/>
                <a:cs typeface="Times New Roman" panose="02020603050405020304" pitchFamily="18" charset="0"/>
              </a:rPr>
              <a:t> like </a:t>
            </a:r>
            <a:r>
              <a:rPr lang="en-IN" sz="2600" b="1" dirty="0">
                <a:latin typeface="Times New Roman" panose="02020603050405020304" pitchFamily="18" charset="0"/>
                <a:cs typeface="Times New Roman" panose="02020603050405020304" pitchFamily="18" charset="0"/>
              </a:rPr>
              <a:t>YOLOv8</a:t>
            </a:r>
            <a:r>
              <a:rPr lang="en-IN" sz="2600" dirty="0">
                <a:latin typeface="Times New Roman" panose="02020603050405020304" pitchFamily="18" charset="0"/>
                <a:cs typeface="Times New Roman" panose="02020603050405020304" pitchFamily="18" charset="0"/>
              </a:rPr>
              <a:t>, capable of </a:t>
            </a:r>
            <a:r>
              <a:rPr lang="en-IN" sz="2600" b="1" dirty="0">
                <a:latin typeface="Times New Roman" panose="02020603050405020304" pitchFamily="18" charset="0"/>
                <a:cs typeface="Times New Roman" panose="02020603050405020304" pitchFamily="18" charset="0"/>
              </a:rPr>
              <a:t>scalable and automated forest detection</a:t>
            </a:r>
            <a:r>
              <a:rPr lang="en-IN" sz="2600" dirty="0">
                <a:latin typeface="Times New Roman" panose="02020603050405020304" pitchFamily="18" charset="0"/>
                <a:cs typeface="Times New Roman" panose="02020603050405020304" pitchFamily="18" charset="0"/>
              </a:rPr>
              <a:t> using </a:t>
            </a:r>
            <a:r>
              <a:rPr lang="en-IN" sz="2600" b="1" dirty="0">
                <a:latin typeface="Times New Roman" panose="02020603050405020304" pitchFamily="18" charset="0"/>
                <a:cs typeface="Times New Roman" panose="02020603050405020304" pitchFamily="18" charset="0"/>
              </a:rPr>
              <a:t>EuroSAT satellite imagery</a:t>
            </a:r>
            <a:r>
              <a:rPr lang="en-IN" sz="2600" dirty="0">
                <a:latin typeface="Times New Roman" panose="02020603050405020304" pitchFamily="18" charset="0"/>
                <a:cs typeface="Times New Roman" panose="02020603050405020304" pitchFamily="18" charset="0"/>
              </a:rPr>
              <a:t>.</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p:cNvSpPr>
            <a:spLocks noGrp="1"/>
          </p:cNvSpPr>
          <p:nvPr>
            <p:ph idx="1"/>
          </p:nvPr>
        </p:nvSpPr>
        <p:spPr>
          <a:xfrm>
            <a:off x="838200" y="1492250"/>
            <a:ext cx="10515600" cy="4685030"/>
          </a:xfrm>
        </p:spPr>
        <p:txBody>
          <a:bodyPr>
            <a:normAutofit fontScale="97500"/>
          </a:bodyPr>
          <a:lstStyle/>
          <a:p>
            <a:pPr marL="0" indent="0">
              <a:buClrTx/>
              <a:buFont typeface="Wingdings" panose="05000000000000000000" pitchFamily="2" charset="2"/>
              <a:buNone/>
            </a:pPr>
            <a:r>
              <a:rPr lang="en-US" altLang="en-US" sz="2665" b="1" dirty="0">
                <a:latin typeface="Times New Roman" panose="02020603050405020304" pitchFamily="18" charset="0"/>
                <a:ea typeface="Arial" panose="020B0604020202020204"/>
                <a:sym typeface="+mn-ea"/>
              </a:rPr>
              <a:t>Our Research work aims to:</a:t>
            </a:r>
            <a:endParaRPr lang="en-US" altLang="en-US" sz="2200" dirty="0">
              <a:latin typeface="Times New Roman" panose="02020603050405020304" pitchFamily="18" charset="0"/>
              <a:ea typeface="Arial" panose="020B0604020202020204"/>
              <a:sym typeface="+mn-ea"/>
            </a:endParaRPr>
          </a:p>
          <a:p>
            <a:r>
              <a:rPr lang="en-US" sz="2400" b="1" dirty="0"/>
              <a:t>Develop</a:t>
            </a:r>
            <a:r>
              <a:rPr lang="en-US" sz="2400" dirty="0"/>
              <a:t> an automated </a:t>
            </a:r>
            <a:r>
              <a:rPr lang="en-US" sz="2400" b="1" dirty="0"/>
              <a:t>forest stand detection system</a:t>
            </a:r>
            <a:r>
              <a:rPr lang="en-US" sz="2400" dirty="0"/>
              <a:t> using </a:t>
            </a:r>
            <a:r>
              <a:rPr lang="en-US" sz="2400" b="1" dirty="0"/>
              <a:t>YOLOv8</a:t>
            </a:r>
            <a:r>
              <a:rPr lang="en-US" sz="2400" dirty="0"/>
              <a:t> and </a:t>
            </a:r>
            <a:r>
              <a:rPr lang="en-US" sz="2400" b="1" dirty="0"/>
              <a:t>EuroSAT satellite images</a:t>
            </a:r>
            <a:r>
              <a:rPr lang="en-US" sz="2400" dirty="0"/>
              <a:t>.</a:t>
            </a:r>
          </a:p>
          <a:p>
            <a:r>
              <a:rPr lang="en-US" sz="2400" b="1" dirty="0"/>
              <a:t>Enhance accuracy and speed</a:t>
            </a:r>
            <a:r>
              <a:rPr lang="en-US" sz="2400" dirty="0"/>
              <a:t> of land-cover classification through optimized model training.</a:t>
            </a:r>
          </a:p>
          <a:p>
            <a:r>
              <a:rPr lang="en-US" sz="2400" b="1" dirty="0"/>
              <a:t>Apply data preprocessing and augmentation</a:t>
            </a:r>
            <a:r>
              <a:rPr lang="en-US" sz="2400" dirty="0"/>
              <a:t> to improve model stability and reduce overfitting.</a:t>
            </a:r>
          </a:p>
          <a:p>
            <a:r>
              <a:rPr lang="en-US" sz="2400" b="1" dirty="0"/>
              <a:t>Compare YOLOv8 variants</a:t>
            </a:r>
            <a:r>
              <a:rPr lang="en-US" sz="2400" dirty="0"/>
              <a:t> (nano, small, medium) to identify the most efficient model.</a:t>
            </a:r>
          </a:p>
          <a:p>
            <a:r>
              <a:rPr lang="en-US" sz="2400" b="1" dirty="0"/>
              <a:t>Support real-time forest monitoring</a:t>
            </a:r>
            <a:r>
              <a:rPr lang="en-US" sz="2400" dirty="0"/>
              <a:t> for improved </a:t>
            </a:r>
            <a:r>
              <a:rPr lang="en-US" sz="2400" b="1" dirty="0"/>
              <a:t>environmental management and conservation</a:t>
            </a:r>
            <a:r>
              <a:rPr lang="en-US" sz="2400" dirty="0"/>
              <a:t>.</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BLOCK DIAGRAM OR FLOW DIAGRAM</a:t>
            </a: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D7763254-C542-CAFC-9A9D-1E88045BBC1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601094" y="1493135"/>
            <a:ext cx="2989812" cy="4389506"/>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fontScale="90000"/>
          </a:bodyPr>
          <a:lstStyle/>
          <a:p>
            <a:pPr algn="ctr"/>
            <a:r>
              <a:rPr lang="en-US" sz="4900" b="1" dirty="0">
                <a:latin typeface="Times New Roman" panose="02020603050405020304" pitchFamily="18" charset="0"/>
                <a:cs typeface="Times New Roman" panose="02020603050405020304" pitchFamily="18" charset="0"/>
              </a:rPr>
              <a:t>METHODLOGY</a:t>
            </a:r>
            <a:br>
              <a:rPr lang="en-US" b="1" dirty="0"/>
            </a:br>
            <a:endParaRPr lang="en-US" b="1"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DE4D3666-D7D7-498C-7E41-3E4227D91418}"/>
              </a:ext>
            </a:extLst>
          </p:cNvPr>
          <p:cNvSpPr>
            <a:spLocks noGrp="1"/>
          </p:cNvSpPr>
          <p:nvPr>
            <p:ph idx="1"/>
          </p:nvPr>
        </p:nvSpPr>
        <p:spPr>
          <a:xfrm>
            <a:off x="838200" y="924560"/>
            <a:ext cx="10515600" cy="5252403"/>
          </a:xfrm>
        </p:spPr>
        <p:txBody>
          <a:bodyPr>
            <a:normAutofit/>
          </a:bodyPr>
          <a:lstStyle/>
          <a:p>
            <a:pPr marL="0" indent="0">
              <a:buNone/>
            </a:pPr>
            <a:r>
              <a:rPr lang="en-IN" sz="2400" b="1" dirty="0"/>
              <a:t>1</a:t>
            </a:r>
            <a:r>
              <a:rPr lang="en-IN" b="1" dirty="0"/>
              <a:t>. </a:t>
            </a:r>
            <a:r>
              <a:rPr lang="en-IN" sz="2400" b="1" dirty="0"/>
              <a:t>Dataset</a:t>
            </a:r>
            <a:endParaRPr lang="en-IN" sz="2400" dirty="0"/>
          </a:p>
          <a:p>
            <a:r>
              <a:rPr lang="en-IN" sz="2000" dirty="0"/>
              <a:t>Used </a:t>
            </a:r>
            <a:r>
              <a:rPr lang="en-IN" sz="2000" b="1" dirty="0"/>
              <a:t>EuroSAT</a:t>
            </a:r>
            <a:r>
              <a:rPr lang="en-IN" sz="2000" dirty="0"/>
              <a:t> satellite dataset (10 land-cover classes).</a:t>
            </a:r>
          </a:p>
          <a:p>
            <a:r>
              <a:rPr lang="en-IN" sz="2000" dirty="0"/>
              <a:t>Each image: </a:t>
            </a:r>
            <a:r>
              <a:rPr lang="en-IN" sz="2000" b="1" dirty="0"/>
              <a:t>64×64 </a:t>
            </a:r>
            <a:r>
              <a:rPr lang="en-IN" sz="2000" b="1" dirty="0" err="1"/>
              <a:t>px</a:t>
            </a:r>
            <a:r>
              <a:rPr lang="en-IN" sz="2000" b="1" dirty="0"/>
              <a:t> RGB</a:t>
            </a:r>
            <a:r>
              <a:rPr lang="en-IN" sz="2000" dirty="0"/>
              <a:t>, resized to </a:t>
            </a:r>
            <a:r>
              <a:rPr lang="en-IN" sz="2000" b="1" dirty="0"/>
              <a:t>224×224 </a:t>
            </a:r>
            <a:r>
              <a:rPr lang="en-IN" sz="2000" b="1" dirty="0" err="1"/>
              <a:t>px</a:t>
            </a:r>
            <a:r>
              <a:rPr lang="en-IN" sz="2000" dirty="0"/>
              <a:t>.</a:t>
            </a:r>
          </a:p>
          <a:p>
            <a:r>
              <a:rPr lang="en-IN" sz="2000" dirty="0"/>
              <a:t>Classes include </a:t>
            </a:r>
            <a:r>
              <a:rPr lang="en-IN" sz="2000" b="1" dirty="0"/>
              <a:t>Forest, Crop, Residential, Pasture</a:t>
            </a:r>
            <a:r>
              <a:rPr lang="en-IN" sz="2000" dirty="0"/>
              <a:t>, etc.</a:t>
            </a:r>
          </a:p>
          <a:p>
            <a:pPr marL="0" indent="0">
              <a:buNone/>
            </a:pPr>
            <a:r>
              <a:rPr lang="en-IN" sz="2400" b="1" dirty="0"/>
              <a:t>2</a:t>
            </a:r>
            <a:r>
              <a:rPr lang="en-IN" b="1" dirty="0"/>
              <a:t>. </a:t>
            </a:r>
            <a:r>
              <a:rPr lang="en-IN" sz="2400" b="1" dirty="0"/>
              <a:t>Data Preprocessing</a:t>
            </a:r>
            <a:endParaRPr lang="en-IN" sz="2400" dirty="0"/>
          </a:p>
          <a:p>
            <a:r>
              <a:rPr lang="en-IN" sz="2000" b="1" dirty="0"/>
              <a:t>Removed duplicates</a:t>
            </a:r>
            <a:r>
              <a:rPr lang="en-IN" sz="2000" dirty="0"/>
              <a:t> and checked for missing labels.</a:t>
            </a:r>
          </a:p>
          <a:p>
            <a:r>
              <a:rPr lang="en-IN" sz="2000" b="1" dirty="0"/>
              <a:t>Normalized</a:t>
            </a:r>
            <a:r>
              <a:rPr lang="en-IN" sz="2000" dirty="0"/>
              <a:t> pixel values to </a:t>
            </a:r>
            <a:r>
              <a:rPr lang="en-IN" sz="2000" b="1" dirty="0"/>
              <a:t>[0,1]</a:t>
            </a:r>
            <a:r>
              <a:rPr lang="en-IN" sz="2000" dirty="0"/>
              <a:t>.</a:t>
            </a:r>
          </a:p>
          <a:p>
            <a:r>
              <a:rPr lang="en-IN" sz="2000" b="1" dirty="0"/>
              <a:t>Encoded labels</a:t>
            </a:r>
            <a:r>
              <a:rPr lang="en-IN" sz="2000" dirty="0"/>
              <a:t> numerically (one class per image).</a:t>
            </a:r>
          </a:p>
          <a:p>
            <a:r>
              <a:rPr lang="en-IN" sz="2000" b="1" dirty="0"/>
              <a:t>Augmented data</a:t>
            </a:r>
            <a:r>
              <a:rPr lang="en-IN" sz="2000" dirty="0"/>
              <a:t> using flip, rotation, contrast, and</a:t>
            </a:r>
          </a:p>
          <a:p>
            <a:pPr marL="0" indent="0">
              <a:buNone/>
            </a:pPr>
            <a:r>
              <a:rPr lang="en-IN" sz="2000" dirty="0"/>
              <a:t>    noise.</a:t>
            </a:r>
          </a:p>
          <a:p>
            <a:r>
              <a:rPr lang="en-IN" sz="2000" b="1" dirty="0"/>
              <a:t>Split data:</a:t>
            </a:r>
            <a:r>
              <a:rPr lang="en-IN" sz="2000" dirty="0"/>
              <a:t> 80% training, 10% validation, 10% testing.</a:t>
            </a:r>
          </a:p>
          <a:p>
            <a:pPr marL="0" indent="0">
              <a:buNone/>
            </a:pPr>
            <a:endParaRPr lang="en-IN" dirty="0"/>
          </a:p>
        </p:txBody>
      </p:sp>
      <p:pic>
        <p:nvPicPr>
          <p:cNvPr id="9" name="Picture 8">
            <a:extLst>
              <a:ext uri="{FF2B5EF4-FFF2-40B4-BE49-F238E27FC236}">
                <a16:creationId xmlns:a16="http://schemas.microsoft.com/office/drawing/2014/main" id="{20C8D44D-98CE-3B49-9E17-1E3E7E9D59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4160" y="4297680"/>
            <a:ext cx="5476240" cy="1971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2" name="Title 1"/>
          <p:cNvSpPr txBox="1"/>
          <p:nvPr/>
        </p:nvSpPr>
        <p:spPr>
          <a:xfrm>
            <a:off x="101082" y="561796"/>
            <a:ext cx="10515600" cy="68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txBox="1"/>
          <p:nvPr/>
        </p:nvSpPr>
        <p:spPr>
          <a:xfrm>
            <a:off x="652780" y="814705"/>
            <a:ext cx="10701020" cy="525145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  3. Model Architecture (YOLOv8)</a:t>
            </a:r>
            <a:endParaRPr lang="en-US" dirty="0"/>
          </a:p>
          <a:p>
            <a:r>
              <a:rPr lang="en-US" dirty="0"/>
              <a:t>The proposed model is based on the </a:t>
            </a:r>
            <a:r>
              <a:rPr lang="en-US" b="1" dirty="0"/>
              <a:t>YOLOv8 (You Only Look Once, version 8)</a:t>
            </a:r>
            <a:r>
              <a:rPr lang="en-US" dirty="0"/>
              <a:t> architecture, developed by </a:t>
            </a:r>
            <a:r>
              <a:rPr lang="en-US" b="1" dirty="0"/>
              <a:t>Ultralytics</a:t>
            </a:r>
            <a:r>
              <a:rPr lang="en-US" dirty="0"/>
              <a:t>.</a:t>
            </a:r>
            <a:br>
              <a:rPr lang="en-US" dirty="0"/>
            </a:br>
            <a:r>
              <a:rPr lang="en-US" dirty="0"/>
              <a:t>It is a </a:t>
            </a:r>
            <a:r>
              <a:rPr lang="en-US" b="1" dirty="0"/>
              <a:t>real-time object detection and classification framework</a:t>
            </a:r>
            <a:r>
              <a:rPr lang="en-US" dirty="0"/>
              <a:t> optimized for speed and accuracy.</a:t>
            </a:r>
            <a:br>
              <a:rPr lang="en-US" dirty="0"/>
            </a:br>
            <a:r>
              <a:rPr lang="en-US" dirty="0"/>
              <a:t>Key phases include:</a:t>
            </a:r>
            <a:endParaRPr lang="en-IN" dirty="0"/>
          </a:p>
          <a:p>
            <a:r>
              <a:rPr lang="en-US" b="1" dirty="0"/>
              <a:t>Backbone :</a:t>
            </a:r>
            <a:r>
              <a:rPr lang="en-US" dirty="0"/>
              <a:t> Darknet-based convolutional layers for hierarchical feature extraction.</a:t>
            </a:r>
            <a:endParaRPr lang="en-IN" sz="2000" dirty="0"/>
          </a:p>
          <a:p>
            <a:r>
              <a:rPr lang="en-US" b="1" dirty="0"/>
              <a:t>Neck:</a:t>
            </a:r>
            <a:r>
              <a:rPr lang="en-US" dirty="0"/>
              <a:t> PAN-FPN (Path Aggregation Network with Feature Pyramid Network) for multi-scale feature fusion.</a:t>
            </a:r>
            <a:endParaRPr lang="en-IN" sz="2000" dirty="0"/>
          </a:p>
          <a:p>
            <a:r>
              <a:rPr lang="en-US" b="1" dirty="0"/>
              <a:t>Head:</a:t>
            </a:r>
            <a:r>
              <a:rPr lang="en-US" dirty="0"/>
              <a:t> Detection layers that predict class probabilities and bounding boxes in a single forward pass.</a:t>
            </a:r>
            <a:br>
              <a:rPr lang="en-US" dirty="0"/>
            </a:br>
            <a:r>
              <a:rPr lang="en-US" dirty="0"/>
              <a:t>Three model variants were tested </a:t>
            </a:r>
            <a:r>
              <a:rPr lang="en-US" b="1" dirty="0"/>
              <a:t>YOLOv8n (nano)</a:t>
            </a:r>
            <a:r>
              <a:rPr lang="en-US" dirty="0"/>
              <a:t>, </a:t>
            </a:r>
            <a:r>
              <a:rPr lang="en-US" b="1" dirty="0"/>
              <a:t>YOLOv8s (small)</a:t>
            </a:r>
            <a:r>
              <a:rPr lang="en-US" dirty="0"/>
              <a:t>, and </a:t>
            </a:r>
            <a:r>
              <a:rPr lang="en-US" b="1" dirty="0"/>
              <a:t>YOLOv8m (medium)</a:t>
            </a:r>
            <a:r>
              <a:rPr lang="en-US" dirty="0"/>
              <a:t> to evaluate trade-offs between </a:t>
            </a:r>
            <a:r>
              <a:rPr lang="en-US" b="1" dirty="0"/>
              <a:t>speed and accuracy</a:t>
            </a:r>
            <a:r>
              <a:rPr lang="en-US" dirty="0"/>
              <a:t>.</a:t>
            </a:r>
            <a:endParaRPr lang="en-IN" sz="2000" dirty="0"/>
          </a:p>
          <a:p>
            <a:pPr marL="0" indent="0">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12" name="Content Placeholder 2"/>
          <p:cNvSpPr txBox="1"/>
          <p:nvPr/>
        </p:nvSpPr>
        <p:spPr>
          <a:xfrm>
            <a:off x="651163" y="547543"/>
            <a:ext cx="10515600" cy="57909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b="1" dirty="0">
                <a:latin typeface="Times New Roman" panose="02020603050405020304" pitchFamily="18" charset="0"/>
                <a:cs typeface="Times New Roman" panose="02020603050405020304" pitchFamily="18" charset="0"/>
              </a:rPr>
              <a:t>4.Outcome</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The model correctly identified the forest image with </a:t>
            </a:r>
            <a:r>
              <a:rPr lang="en-IN" sz="2000" b="1" dirty="0">
                <a:latin typeface="Times New Roman" panose="02020603050405020304" pitchFamily="18" charset="0"/>
                <a:cs typeface="Times New Roman" panose="02020603050405020304" pitchFamily="18" charset="0"/>
              </a:rPr>
              <a:t>very high confidence (99.61%)</a:t>
            </a:r>
            <a:r>
              <a:rPr lang="en-IN" sz="2000" dirty="0">
                <a:latin typeface="Times New Roman" panose="02020603050405020304" pitchFamily="18" charset="0"/>
                <a:cs typeface="Times New Roman" panose="02020603050405020304" pitchFamily="18" charset="0"/>
              </a:rPr>
              <a:t>.</a:t>
            </a:r>
          </a:p>
          <a:p>
            <a:pPr lvl="0"/>
            <a:r>
              <a:rPr lang="en-US" sz="2000" dirty="0"/>
              <a:t>The second image contains </a:t>
            </a:r>
            <a:r>
              <a:rPr lang="en-US" sz="2000" b="1" dirty="0"/>
              <a:t>Annual Crop fields along with a road</a:t>
            </a:r>
            <a:r>
              <a:rPr lang="en-US" sz="2000" dirty="0"/>
              <a:t>, and the model predicted </a:t>
            </a:r>
            <a:r>
              <a:rPr lang="en-US" sz="2000" b="1" dirty="0"/>
              <a:t>Annual Crop</a:t>
            </a:r>
            <a:r>
              <a:rPr lang="en-US" sz="2000" dirty="0"/>
              <a:t> with </a:t>
            </a:r>
            <a:r>
              <a:rPr lang="en-US" sz="2000" b="1" dirty="0"/>
              <a:t>52.11% probability</a:t>
            </a:r>
            <a:r>
              <a:rPr lang="en-US" sz="2000" dirty="0"/>
              <a:t>.</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The predictions show the model can classify different land types from satellite images.</a:t>
            </a:r>
          </a:p>
          <a:p>
            <a:pPr lvl="0"/>
            <a:r>
              <a:rPr lang="en-IN" sz="2000" dirty="0">
                <a:latin typeface="Times New Roman" panose="02020603050405020304" pitchFamily="18" charset="0"/>
                <a:cs typeface="Times New Roman" panose="02020603050405020304" pitchFamily="18" charset="0"/>
              </a:rPr>
              <a:t>Forest regions are identified more accurately due to clear vegetation patterns.</a:t>
            </a:r>
          </a:p>
          <a:p>
            <a:pPr lvl="0"/>
            <a:r>
              <a:rPr lang="en-IN" sz="2000" dirty="0">
                <a:latin typeface="Times New Roman" panose="02020603050405020304" pitchFamily="18" charset="0"/>
                <a:cs typeface="Times New Roman" panose="02020603050405020304" pitchFamily="18" charset="0"/>
              </a:rPr>
              <a:t> Overall, the model provides reliable land-cover classification for monitoring and analysis.</a:t>
            </a:r>
          </a:p>
          <a:p>
            <a:pPr marL="0" indent="0">
              <a:buNone/>
            </a:pPr>
            <a:endParaRPr lang="en-IN" sz="2000" dirty="0"/>
          </a:p>
        </p:txBody>
      </p:sp>
      <p:pic>
        <p:nvPicPr>
          <p:cNvPr id="3" name="Picture 2">
            <a:extLst>
              <a:ext uri="{FF2B5EF4-FFF2-40B4-BE49-F238E27FC236}">
                <a16:creationId xmlns:a16="http://schemas.microsoft.com/office/drawing/2014/main" id="{AC83E605-BCC9-5C85-542D-22C14CDD2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5129" y="3429000"/>
            <a:ext cx="6388428" cy="22226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5375" y="681037"/>
            <a:ext cx="10515600" cy="703587"/>
          </a:xfrm>
        </p:spPr>
        <p:txBody>
          <a:bodyPr>
            <a:noAutofit/>
          </a:bodyPr>
          <a:lstStyle/>
          <a:p>
            <a:r>
              <a:rPr lang="en-US" b="1" dirty="0">
                <a:latin typeface="Times New Roman" panose="02020603050405020304" pitchFamily="18" charset="0"/>
                <a:cs typeface="Times New Roman" panose="02020603050405020304" pitchFamily="18" charset="0"/>
              </a:rPr>
              <a:t>IMPLEMENTATION</a:t>
            </a:r>
            <a:br>
              <a:rPr lang="en-IN" b="1" dirty="0">
                <a:latin typeface="Times New Roman" panose="02020603050405020304" pitchFamily="18" charset="0"/>
                <a:cs typeface="Times New Roman" panose="02020603050405020304" pitchFamily="18" charset="0"/>
              </a:rPr>
            </a:br>
            <a:endParaRPr lang="en-IN" b="1" dirty="0"/>
          </a:p>
        </p:txBody>
      </p:sp>
      <p:sp>
        <p:nvSpPr>
          <p:cNvPr id="3" name="Content Placeholder 2"/>
          <p:cNvSpPr>
            <a:spLocks noGrp="1"/>
          </p:cNvSpPr>
          <p:nvPr>
            <p:ph idx="1"/>
          </p:nvPr>
        </p:nvSpPr>
        <p:spPr>
          <a:xfrm>
            <a:off x="838200" y="1075690"/>
            <a:ext cx="10515600" cy="5281295"/>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Implementation</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Implemented using </a:t>
            </a:r>
            <a:r>
              <a:rPr lang="en-IN" sz="2400" b="1" dirty="0">
                <a:latin typeface="Times New Roman" panose="02020603050405020304" pitchFamily="18" charset="0"/>
                <a:cs typeface="Times New Roman" panose="02020603050405020304" pitchFamily="18" charset="0"/>
              </a:rPr>
              <a:t>Ultralytics YOLOv8</a:t>
            </a:r>
            <a:r>
              <a:rPr lang="en-IN" sz="2400" dirty="0">
                <a:latin typeface="Times New Roman" panose="02020603050405020304" pitchFamily="18" charset="0"/>
                <a:cs typeface="Times New Roman" panose="02020603050405020304" pitchFamily="18" charset="0"/>
              </a:rPr>
              <a:t> framework in </a:t>
            </a:r>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a:t>
            </a:r>
          </a:p>
          <a:p>
            <a:pPr lvl="0"/>
            <a:r>
              <a:rPr lang="en-IN" sz="2400" b="1" dirty="0">
                <a:latin typeface="Times New Roman" panose="02020603050405020304" pitchFamily="18" charset="0"/>
                <a:cs typeface="Times New Roman" panose="02020603050405020304" pitchFamily="18" charset="0"/>
              </a:rPr>
              <a:t>EuroSAT dataset</a:t>
            </a:r>
            <a:r>
              <a:rPr lang="en-IN" sz="2400" dirty="0">
                <a:latin typeface="Times New Roman" panose="02020603050405020304" pitchFamily="18" charset="0"/>
                <a:cs typeface="Times New Roman" panose="02020603050405020304" pitchFamily="18" charset="0"/>
              </a:rPr>
              <a:t> preprocessed with resizing, normalization, and labeling.</a:t>
            </a:r>
          </a:p>
          <a:p>
            <a:pPr lvl="0"/>
            <a:r>
              <a:rPr lang="en-IN" sz="2400" dirty="0">
                <a:latin typeface="Times New Roman" panose="02020603050405020304" pitchFamily="18" charset="0"/>
                <a:cs typeface="Times New Roman" panose="02020603050405020304" pitchFamily="18" charset="0"/>
              </a:rPr>
              <a:t>Applied </a:t>
            </a:r>
            <a:r>
              <a:rPr lang="en-IN" sz="2400" b="1" dirty="0">
                <a:latin typeface="Times New Roman" panose="02020603050405020304" pitchFamily="18" charset="0"/>
                <a:cs typeface="Times New Roman" panose="02020603050405020304" pitchFamily="18" charset="0"/>
              </a:rPr>
              <a:t>data augmentation</a:t>
            </a:r>
            <a:r>
              <a:rPr lang="en-IN" sz="2400" dirty="0">
                <a:latin typeface="Times New Roman" panose="02020603050405020304" pitchFamily="18" charset="0"/>
                <a:cs typeface="Times New Roman" panose="02020603050405020304" pitchFamily="18" charset="0"/>
              </a:rPr>
              <a:t> (flip, rotate, brightness) to improve diversity.</a:t>
            </a:r>
          </a:p>
          <a:p>
            <a:pPr lvl="0"/>
            <a:r>
              <a:rPr lang="en-IN" sz="2400" dirty="0">
                <a:latin typeface="Times New Roman" panose="02020603050405020304" pitchFamily="18" charset="0"/>
                <a:cs typeface="Times New Roman" panose="02020603050405020304" pitchFamily="18" charset="0"/>
              </a:rPr>
              <a:t>Trained </a:t>
            </a:r>
            <a:r>
              <a:rPr lang="en-IN" sz="2400" b="1" dirty="0">
                <a:latin typeface="Times New Roman" panose="02020603050405020304" pitchFamily="18" charset="0"/>
                <a:cs typeface="Times New Roman" panose="02020603050405020304" pitchFamily="18" charset="0"/>
              </a:rPr>
              <a:t>YOLOv8-nano, small, and medium</a:t>
            </a:r>
            <a:r>
              <a:rPr lang="en-IN" sz="2400" dirty="0">
                <a:latin typeface="Times New Roman" panose="02020603050405020304" pitchFamily="18" charset="0"/>
                <a:cs typeface="Times New Roman" panose="02020603050405020304" pitchFamily="18" charset="0"/>
              </a:rPr>
              <a:t> models for forest stand detection.</a:t>
            </a:r>
          </a:p>
          <a:p>
            <a:pPr lvl="0"/>
            <a:r>
              <a:rPr lang="en-IN" sz="2400" dirty="0">
                <a:latin typeface="Times New Roman" panose="02020603050405020304" pitchFamily="18" charset="0"/>
                <a:cs typeface="Times New Roman" panose="02020603050405020304" pitchFamily="18" charset="0"/>
              </a:rPr>
              <a:t>Evaluated using </a:t>
            </a:r>
            <a:r>
              <a:rPr lang="en-IN" sz="2400" b="1" dirty="0">
                <a:latin typeface="Times New Roman" panose="02020603050405020304" pitchFamily="18" charset="0"/>
                <a:cs typeface="Times New Roman" panose="02020603050405020304" pitchFamily="18" charset="0"/>
              </a:rPr>
              <a:t>Accuracy, Precision, Recall, and F1-Score</a:t>
            </a:r>
            <a:r>
              <a:rPr lang="en-IN" sz="2400" dirty="0">
                <a:latin typeface="Times New Roman" panose="02020603050405020304" pitchFamily="18" charset="0"/>
                <a:cs typeface="Times New Roman" panose="02020603050405020304" pitchFamily="18" charset="0"/>
              </a:rPr>
              <a:t>.</a:t>
            </a:r>
          </a:p>
          <a:p>
            <a:pPr lvl="0"/>
            <a:r>
              <a:rPr lang="en-IN" sz="2400" dirty="0">
                <a:latin typeface="Times New Roman" panose="02020603050405020304" pitchFamily="18" charset="0"/>
                <a:cs typeface="Times New Roman" panose="02020603050405020304" pitchFamily="18" charset="0"/>
              </a:rPr>
              <a:t>Achieved </a:t>
            </a:r>
            <a:r>
              <a:rPr lang="en-IN" sz="2400" b="1" dirty="0">
                <a:latin typeface="Times New Roman" panose="02020603050405020304" pitchFamily="18" charset="0"/>
                <a:cs typeface="Times New Roman" panose="02020603050405020304" pitchFamily="18" charset="0"/>
              </a:rPr>
              <a:t>97.5% accuracy</a:t>
            </a:r>
            <a:r>
              <a:rPr lang="en-IN" sz="2400" dirty="0">
                <a:latin typeface="Times New Roman" panose="02020603050405020304" pitchFamily="18" charset="0"/>
                <a:cs typeface="Times New Roman" panose="02020603050405020304" pitchFamily="18" charset="0"/>
              </a:rPr>
              <a:t> for real-time forest classification.</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Software &amp; Hardware</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Software:</a:t>
            </a:r>
            <a:r>
              <a:rPr lang="en-IN" sz="2400" dirty="0">
                <a:latin typeface="Times New Roman" panose="02020603050405020304" pitchFamily="18" charset="0"/>
                <a:cs typeface="Times New Roman" panose="02020603050405020304" pitchFamily="18" charset="0"/>
              </a:rPr>
              <a:t> Python, Ultralytics, OpenCV, PyTorch (Google Colab)</a:t>
            </a:r>
          </a:p>
          <a:p>
            <a:pPr lvl="0"/>
            <a:r>
              <a:rPr lang="en-IN" sz="2400" b="1" dirty="0">
                <a:latin typeface="Times New Roman" panose="02020603050405020304" pitchFamily="18" charset="0"/>
                <a:cs typeface="Times New Roman" panose="02020603050405020304" pitchFamily="18" charset="0"/>
              </a:rPr>
              <a:t>Hardware:</a:t>
            </a:r>
            <a:r>
              <a:rPr lang="en-IN" sz="2400" dirty="0">
                <a:latin typeface="Times New Roman" panose="02020603050405020304" pitchFamily="18" charset="0"/>
                <a:cs typeface="Times New Roman" panose="02020603050405020304" pitchFamily="18" charset="0"/>
              </a:rPr>
              <a:t> Intel i5, 8GB RAM, </a:t>
            </a:r>
            <a:r>
              <a:rPr lang="en-IN" sz="2400" b="1" dirty="0">
                <a:latin typeface="Times New Roman" panose="02020603050405020304" pitchFamily="18" charset="0"/>
                <a:cs typeface="Times New Roman" panose="02020603050405020304" pitchFamily="18" charset="0"/>
              </a:rPr>
              <a:t>NVIDIA GPU (T4/RTX)</a:t>
            </a:r>
            <a:endParaRPr lang="en-IN" sz="2400" dirty="0">
              <a:latin typeface="Times New Roman" panose="02020603050405020304" pitchFamily="18" charset="0"/>
              <a:cs typeface="Times New Roman" panose="02020603050405020304" pitchFamily="18" charset="0"/>
            </a:endParaRPr>
          </a:p>
          <a:p>
            <a:pPr marL="0" indent="0">
              <a:buNone/>
            </a:pPr>
            <a:endParaRPr lang="en-US" altLang="en-US" sz="2000" b="0" spc="-15"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IN"/>
          </a:p>
        </p:txBody>
      </p:sp>
      <p:sp>
        <p:nvSpPr>
          <p:cNvPr id="5" name="Footer Placeholder 4"/>
          <p:cNvSpPr>
            <a:spLocks noGrp="1"/>
          </p:cNvSpPr>
          <p:nvPr>
            <p:ph type="ftr" sz="quarter" idx="11"/>
          </p:nvPr>
        </p:nvSpPr>
        <p:spPr/>
        <p:txBody>
          <a:bodyPr/>
          <a:lstStyle/>
          <a:p>
            <a:r>
              <a:rPr lang="en-US" dirty="0"/>
              <a:t>Review No. 1        Batch No. CB10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p>
        </p:txBody>
      </p:sp>
      <p:sp>
        <p:nvSpPr>
          <p:cNvPr id="9" name="Content Placeholder 8"/>
          <p:cNvSpPr>
            <a:spLocks noGrp="1"/>
          </p:cNvSpPr>
          <p:nvPr>
            <p:ph idx="1"/>
          </p:nvPr>
        </p:nvSpPr>
        <p:spPr>
          <a:xfrm>
            <a:off x="838200" y="1356995"/>
            <a:ext cx="10515600" cy="4648200"/>
          </a:xfrm>
        </p:spPr>
        <p:txBody>
          <a:bodyPr>
            <a:normAutofit/>
          </a:bodyPr>
          <a:lstStyle/>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
        <p:nvSpPr>
          <p:cNvPr id="11" name="Text Box 10"/>
          <p:cNvSpPr txBox="1"/>
          <p:nvPr/>
        </p:nvSpPr>
        <p:spPr>
          <a:xfrm>
            <a:off x="1017270" y="1245235"/>
            <a:ext cx="9998710" cy="4575810"/>
          </a:xfrm>
          <a:prstGeom prst="rect">
            <a:avLst/>
          </a:prstGeom>
          <a:noFill/>
        </p:spPr>
        <p:txBody>
          <a:bodyPr wrap="square" rtlCol="0">
            <a:noAutofit/>
          </a:bodyPr>
          <a:lstStyle/>
          <a:p>
            <a:r>
              <a:rPr lang="en-IN" b="1" dirty="0"/>
              <a:t>Results</a:t>
            </a:r>
            <a:endParaRPr lang="en-IN" dirty="0"/>
          </a:p>
          <a:p>
            <a:pPr marL="285750" lvl="0" indent="-285750">
              <a:buFont typeface="Arial" panose="020B0604020202020204" pitchFamily="34" charset="0"/>
              <a:buChar char="•"/>
            </a:pPr>
            <a:r>
              <a:rPr lang="en-IN" b="1" dirty="0"/>
              <a:t>Overall Accuracy:</a:t>
            </a:r>
            <a:r>
              <a:rPr lang="en-IN" dirty="0"/>
              <a:t> Achieved </a:t>
            </a:r>
            <a:r>
              <a:rPr lang="en-IN" b="1" dirty="0"/>
              <a:t>97.5%</a:t>
            </a:r>
            <a:r>
              <a:rPr lang="en-IN" dirty="0"/>
              <a:t> on the </a:t>
            </a:r>
            <a:r>
              <a:rPr lang="en-IN" b="1" dirty="0"/>
              <a:t>EuroSAT dataset</a:t>
            </a:r>
            <a:r>
              <a:rPr lang="en-IN" dirty="0"/>
              <a:t>.</a:t>
            </a:r>
          </a:p>
          <a:p>
            <a:pPr marL="285750" lvl="0" indent="-285750">
              <a:buFont typeface="Arial" panose="020B0604020202020204" pitchFamily="34" charset="0"/>
              <a:buChar char="•"/>
            </a:pPr>
            <a:r>
              <a:rPr lang="en-IN" b="1" dirty="0"/>
              <a:t>Precision:</a:t>
            </a:r>
            <a:r>
              <a:rPr lang="en-IN" dirty="0"/>
              <a:t> 97.8% | </a:t>
            </a:r>
            <a:r>
              <a:rPr lang="en-IN" b="1" dirty="0"/>
              <a:t>Recall:</a:t>
            </a:r>
            <a:r>
              <a:rPr lang="en-IN" dirty="0"/>
              <a:t> 98.2% | </a:t>
            </a:r>
            <a:r>
              <a:rPr lang="en-IN" b="1" dirty="0"/>
              <a:t>F1-Score:</a:t>
            </a:r>
            <a:r>
              <a:rPr lang="en-IN" dirty="0"/>
              <a:t> 97.8% - consistent across all classes.</a:t>
            </a:r>
          </a:p>
          <a:p>
            <a:pPr marL="285750" lvl="0" indent="-285750">
              <a:buFont typeface="Arial" panose="020B0604020202020204" pitchFamily="34" charset="0"/>
              <a:buChar char="•"/>
            </a:pPr>
            <a:r>
              <a:rPr lang="en-IN" b="1" dirty="0"/>
              <a:t>Performance Comparison:</a:t>
            </a:r>
            <a:r>
              <a:rPr lang="en-IN" dirty="0"/>
              <a:t> </a:t>
            </a:r>
            <a:r>
              <a:rPr lang="en-IN" b="1" dirty="0"/>
              <a:t>YOLOv8</a:t>
            </a:r>
            <a:r>
              <a:rPr lang="en-IN" dirty="0"/>
              <a:t> outperformed </a:t>
            </a:r>
            <a:r>
              <a:rPr lang="en-IN" b="1" dirty="0"/>
              <a:t>EfficientNet-B4</a:t>
            </a:r>
            <a:r>
              <a:rPr lang="en-IN" dirty="0"/>
              <a:t> in both </a:t>
            </a:r>
            <a:r>
              <a:rPr lang="en-IN" b="1" dirty="0"/>
              <a:t>accuracy</a:t>
            </a:r>
            <a:r>
              <a:rPr lang="en-IN" dirty="0"/>
              <a:t> and </a:t>
            </a:r>
            <a:r>
              <a:rPr lang="en-IN" b="1" dirty="0"/>
              <a:t>processing speed</a:t>
            </a:r>
            <a:r>
              <a:rPr lang="en-IN" dirty="0"/>
              <a:t>.</a:t>
            </a:r>
          </a:p>
          <a:p>
            <a:pPr marL="285750" lvl="0" indent="-285750">
              <a:buFont typeface="Arial" panose="020B0604020202020204" pitchFamily="34" charset="0"/>
              <a:buChar char="•"/>
            </a:pPr>
            <a:r>
              <a:rPr lang="en-IN" b="1" dirty="0"/>
              <a:t>Optimization Impact:</a:t>
            </a:r>
            <a:r>
              <a:rPr lang="en-IN" dirty="0"/>
              <a:t> </a:t>
            </a:r>
            <a:r>
              <a:rPr lang="en-IN" b="1" dirty="0"/>
              <a:t>Data augmentation</a:t>
            </a:r>
            <a:r>
              <a:rPr lang="en-IN" dirty="0"/>
              <a:t> and </a:t>
            </a:r>
            <a:r>
              <a:rPr lang="en-IN" b="1" dirty="0"/>
              <a:t>parameter tuning</a:t>
            </a:r>
            <a:r>
              <a:rPr lang="en-IN" dirty="0"/>
              <a:t> improved stability and minimized </a:t>
            </a:r>
            <a:r>
              <a:rPr lang="en-IN" b="1" dirty="0"/>
              <a:t>overfitting</a:t>
            </a:r>
            <a:r>
              <a:rPr lang="en-IN" dirty="0"/>
              <a:t>.</a:t>
            </a:r>
          </a:p>
          <a:p>
            <a:pPr marL="285750" lvl="0" indent="-285750">
              <a:buFont typeface="Arial" panose="020B0604020202020204" pitchFamily="34" charset="0"/>
              <a:buChar char="•"/>
            </a:pPr>
            <a:r>
              <a:rPr lang="en-IN" b="1" dirty="0"/>
              <a:t>Model Capability:</a:t>
            </a:r>
            <a:r>
              <a:rPr lang="en-IN" dirty="0"/>
              <a:t> Effectively classified multiple </a:t>
            </a:r>
            <a:r>
              <a:rPr lang="en-IN" b="1" dirty="0"/>
              <a:t>land-cover types</a:t>
            </a:r>
            <a:r>
              <a:rPr lang="en-IN" dirty="0"/>
              <a:t> including forest regions.</a:t>
            </a:r>
          </a:p>
          <a:p>
            <a:pPr marL="285750" lvl="0" indent="-285750">
              <a:buFont typeface="Arial" panose="020B0604020202020204" pitchFamily="34" charset="0"/>
              <a:buChar char="•"/>
            </a:pPr>
            <a:r>
              <a:rPr lang="en-IN" b="1" dirty="0"/>
              <a:t>Application Potential:</a:t>
            </a:r>
            <a:r>
              <a:rPr lang="en-IN" dirty="0"/>
              <a:t> Proven suitable for </a:t>
            </a:r>
            <a:r>
              <a:rPr lang="en-IN" b="1" dirty="0"/>
              <a:t>real-time</a:t>
            </a:r>
            <a:r>
              <a:rPr lang="en-IN" dirty="0"/>
              <a:t>, </a:t>
            </a:r>
            <a:r>
              <a:rPr lang="en-IN" b="1" dirty="0"/>
              <a:t>scalable forest monitoring</a:t>
            </a:r>
            <a:r>
              <a:rPr lang="en-IN" dirty="0"/>
              <a:t> and </a:t>
            </a:r>
            <a:r>
              <a:rPr lang="en-IN" b="1" dirty="0"/>
              <a:t>environmental analysis</a:t>
            </a:r>
            <a:r>
              <a:rPr lang="en-IN" dirty="0"/>
              <a:t>.</a:t>
            </a:r>
          </a:p>
          <a:p>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25CD21C-E5FC-074C-D095-A1017566F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2502" y="3814445"/>
            <a:ext cx="4146700" cy="2600416"/>
          </a:xfrm>
          <a:prstGeom prst="rect">
            <a:avLst/>
          </a:prstGeom>
        </p:spPr>
      </p:pic>
      <p:pic>
        <p:nvPicPr>
          <p:cNvPr id="12" name="Picture 11">
            <a:extLst>
              <a:ext uri="{FF2B5EF4-FFF2-40B4-BE49-F238E27FC236}">
                <a16:creationId xmlns:a16="http://schemas.microsoft.com/office/drawing/2014/main" id="{C3BAF19B-7F65-17E3-101F-CA3C91B51F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8737" y="3814445"/>
            <a:ext cx="4903663" cy="26784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16</a:t>
            </a:fld>
            <a:endParaRPr lang="en-US" dirty="0">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12" name="Content Placeholder 2"/>
          <p:cNvSpPr txBox="1"/>
          <p:nvPr/>
        </p:nvSpPr>
        <p:spPr>
          <a:xfrm>
            <a:off x="651163" y="547543"/>
            <a:ext cx="10515600" cy="57909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IN" dirty="0"/>
              <a:t>Confusion Matrix :</a:t>
            </a:r>
          </a:p>
          <a:p>
            <a:pPr lvl="0"/>
            <a:r>
              <a:rPr lang="en-IN" sz="2000" dirty="0"/>
              <a:t>Shows how many images were </a:t>
            </a:r>
            <a:r>
              <a:rPr lang="en-IN" sz="2000" b="1" dirty="0"/>
              <a:t>correctly</a:t>
            </a:r>
            <a:r>
              <a:rPr lang="en-IN" sz="2000" dirty="0"/>
              <a:t> and </a:t>
            </a:r>
            <a:r>
              <a:rPr lang="en-IN" sz="2000" b="1" dirty="0"/>
              <a:t>incorrectly</a:t>
            </a:r>
            <a:r>
              <a:rPr lang="en-IN" sz="2000" dirty="0"/>
              <a:t> classified.</a:t>
            </a:r>
          </a:p>
          <a:p>
            <a:pPr lvl="0"/>
            <a:r>
              <a:rPr lang="en-IN" sz="2000" dirty="0"/>
              <a:t> Most values are on the </a:t>
            </a:r>
            <a:r>
              <a:rPr lang="en-IN" sz="2000" b="1" dirty="0"/>
              <a:t>diagonal line</a:t>
            </a:r>
            <a:r>
              <a:rPr lang="en-IN" sz="2000" dirty="0"/>
              <a:t>, which means the model classified most images correctly.</a:t>
            </a:r>
          </a:p>
          <a:p>
            <a:pPr lvl="0"/>
            <a:r>
              <a:rPr lang="en-IN" sz="2000" dirty="0"/>
              <a:t> YOLOv8 performed </a:t>
            </a:r>
            <a:r>
              <a:rPr lang="en-IN" sz="2000" b="1" dirty="0"/>
              <a:t>very well</a:t>
            </a:r>
            <a:r>
              <a:rPr lang="en-IN" sz="2000" dirty="0"/>
              <a:t> on almost all classes.</a:t>
            </a:r>
          </a:p>
          <a:p>
            <a:pPr lvl="0"/>
            <a:r>
              <a:rPr lang="en-IN" sz="2000" dirty="0"/>
              <a:t> The confusion matrix proves the model </a:t>
            </a:r>
          </a:p>
          <a:p>
            <a:pPr marL="0" lvl="0" indent="0">
              <a:buNone/>
            </a:pPr>
            <a:r>
              <a:rPr lang="en-IN" sz="2000" dirty="0"/>
              <a:t>  is </a:t>
            </a:r>
            <a:r>
              <a:rPr lang="en-IN" sz="2000" b="1" dirty="0"/>
              <a:t>highly accurate</a:t>
            </a:r>
            <a:r>
              <a:rPr lang="en-IN" sz="2000" dirty="0"/>
              <a:t>, with very </a:t>
            </a:r>
            <a:r>
              <a:rPr lang="en-IN" sz="2000" b="1" dirty="0"/>
              <a:t>few </a:t>
            </a:r>
          </a:p>
          <a:p>
            <a:pPr marL="0" lvl="0" indent="0">
              <a:buNone/>
            </a:pPr>
            <a:r>
              <a:rPr lang="en-IN" sz="2000" b="1" dirty="0"/>
              <a:t>  misclassifications</a:t>
            </a:r>
            <a:r>
              <a:rPr lang="en-IN" sz="2000" dirty="0"/>
              <a:t>.</a:t>
            </a:r>
          </a:p>
          <a:p>
            <a:pPr marL="0" lvl="0" indent="0">
              <a:buNone/>
            </a:pPr>
            <a:endParaRPr lang="en-IN" sz="2000" dirty="0"/>
          </a:p>
        </p:txBody>
      </p:sp>
      <p:pic>
        <p:nvPicPr>
          <p:cNvPr id="11" name="Picture 10">
            <a:extLst>
              <a:ext uri="{FF2B5EF4-FFF2-40B4-BE49-F238E27FC236}">
                <a16:creationId xmlns:a16="http://schemas.microsoft.com/office/drawing/2014/main" id="{84204B27-F3FB-6196-859A-28748AA5FC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8198" y="2103120"/>
            <a:ext cx="5472083" cy="420733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7565" y="528955"/>
            <a:ext cx="10516235" cy="724535"/>
          </a:xfrm>
        </p:spPr>
        <p:txBody>
          <a:bodyPr/>
          <a:lstStyle/>
          <a:p>
            <a:pPr algn="l"/>
            <a:r>
              <a:rPr lang="en-US" altLang="en-US" sz="2400" b="1" dirty="0">
                <a:latin typeface="Times New Roman" panose="02020603050405020304" pitchFamily="18" charset="0"/>
                <a:ea typeface="Arial" panose="020B0604020202020204"/>
                <a:sym typeface="+mn-ea"/>
              </a:rPr>
              <a:t>Model Performance Evaluation:</a:t>
            </a:r>
            <a:endParaRPr lang="en-US" sz="2400"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35330" y="1132840"/>
            <a:ext cx="10515600" cy="2910840"/>
          </a:xfrm>
        </p:spPr>
        <p:txBody>
          <a:bodyPr>
            <a:noAutofit/>
          </a:bodyPr>
          <a:lstStyle/>
          <a:p>
            <a:pPr lvl="0"/>
            <a:r>
              <a:rPr lang="en-IN" sz="2000" dirty="0"/>
              <a:t>Both </a:t>
            </a:r>
            <a:r>
              <a:rPr lang="en-IN" sz="2000" b="1" dirty="0"/>
              <a:t>YOLOv8</a:t>
            </a:r>
            <a:r>
              <a:rPr lang="en-IN" sz="2000" dirty="0"/>
              <a:t> and </a:t>
            </a:r>
            <a:r>
              <a:rPr lang="en-IN" sz="2000" b="1" dirty="0"/>
              <a:t>EfficientNet-B4</a:t>
            </a:r>
            <a:r>
              <a:rPr lang="en-IN" sz="2000" dirty="0"/>
              <a:t> models were evaluated using the </a:t>
            </a:r>
            <a:r>
              <a:rPr lang="en-IN" sz="2000" b="1" dirty="0"/>
              <a:t>EuroSAT dataset</a:t>
            </a:r>
            <a:r>
              <a:rPr lang="en-IN" sz="2000" dirty="0"/>
              <a:t>.</a:t>
            </a:r>
            <a:br>
              <a:rPr lang="en-IN" sz="2000" dirty="0"/>
            </a:br>
            <a:r>
              <a:rPr lang="en-IN" sz="2000" b="1" dirty="0"/>
              <a:t>YOLOv8</a:t>
            </a:r>
            <a:r>
              <a:rPr lang="en-IN" sz="2000" dirty="0"/>
              <a:t> outperformed </a:t>
            </a:r>
            <a:r>
              <a:rPr lang="en-IN" sz="2000" b="1" dirty="0"/>
              <a:t>EfficientNet-B4</a:t>
            </a:r>
            <a:r>
              <a:rPr lang="en-IN" sz="2000" dirty="0"/>
              <a:t> in all key metrics:</a:t>
            </a:r>
          </a:p>
          <a:p>
            <a:pPr lvl="0"/>
            <a:r>
              <a:rPr lang="en-IN" sz="2000" b="1" dirty="0"/>
              <a:t>Accuracy:</a:t>
            </a:r>
            <a:r>
              <a:rPr lang="en-IN" sz="2000" dirty="0"/>
              <a:t> 97.5%</a:t>
            </a:r>
          </a:p>
          <a:p>
            <a:pPr lvl="0"/>
            <a:r>
              <a:rPr lang="en-IN" sz="2000" b="1" dirty="0"/>
              <a:t>Precision:</a:t>
            </a:r>
            <a:r>
              <a:rPr lang="en-IN" sz="2000" dirty="0"/>
              <a:t> 97.8%</a:t>
            </a:r>
          </a:p>
          <a:p>
            <a:pPr lvl="0"/>
            <a:r>
              <a:rPr lang="en-IN" sz="2000" b="1" dirty="0"/>
              <a:t>Recall:</a:t>
            </a:r>
            <a:r>
              <a:rPr lang="en-IN" sz="2000" dirty="0"/>
              <a:t> 98.2%</a:t>
            </a:r>
          </a:p>
          <a:p>
            <a:pPr lvl="0"/>
            <a:r>
              <a:rPr lang="en-IN" sz="2000" b="1" dirty="0"/>
              <a:t>F1-score:</a:t>
            </a:r>
            <a:r>
              <a:rPr lang="en-IN" sz="2000" dirty="0"/>
              <a:t> 97.8%</a:t>
            </a:r>
            <a:r>
              <a:rPr lang="en-IN" dirty="0"/>
              <a:t> </a:t>
            </a:r>
          </a:p>
          <a:p>
            <a:pPr marL="0" indent="0">
              <a:buNone/>
            </a:pPr>
            <a:r>
              <a:rPr lang="en-US" altLang="en-US" sz="2000" dirty="0">
                <a:latin typeface="Times New Roman" panose="02020603050405020304" pitchFamily="18" charset="0"/>
                <a:ea typeface="Arial" panose="020B0604020202020204"/>
                <a:sym typeface="+mn-ea"/>
              </a:rPr>
              <a:t>    </a:t>
            </a:r>
            <a:r>
              <a:rPr lang="en-US" altLang="en-US" sz="2000" b="1" dirty="0">
                <a:latin typeface="Times New Roman" panose="02020603050405020304" pitchFamily="18" charset="0"/>
                <a:ea typeface="Arial" panose="020B0604020202020204"/>
                <a:sym typeface="+mn-ea"/>
              </a:rPr>
              <a:t>EfficientNet-B4</a:t>
            </a:r>
            <a:r>
              <a:rPr lang="en-US" altLang="en-US" sz="2000" dirty="0">
                <a:latin typeface="Times New Roman" panose="02020603050405020304" pitchFamily="18" charset="0"/>
                <a:ea typeface="Arial" panose="020B0604020202020204"/>
                <a:sym typeface="+mn-ea"/>
              </a:rPr>
              <a:t> </a:t>
            </a:r>
            <a:r>
              <a:rPr lang="en-US" altLang="en-US" sz="2000" dirty="0">
                <a:latin typeface="Times New Roman" panose="02020603050405020304" pitchFamily="18" charset="0"/>
                <a:ea typeface="Arial" panose="020B0604020202020204"/>
                <a:cs typeface="Times New Roman" panose="02020603050405020304" pitchFamily="18" charset="0"/>
                <a:sym typeface="+mn-ea"/>
              </a:rPr>
              <a:t>achieved slightly lower results with an F1-score of 0.82.</a:t>
            </a:r>
            <a:r>
              <a:rPr lang="en-IN" sz="2000" b="1" dirty="0">
                <a:latin typeface="Times New Roman" panose="02020603050405020304" pitchFamily="18" charset="0"/>
                <a:cs typeface="Times New Roman" panose="02020603050405020304" pitchFamily="18" charset="0"/>
              </a:rPr>
              <a:t> </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graphicFrame>
        <p:nvGraphicFramePr>
          <p:cNvPr id="2" name="Table 1"/>
          <p:cNvGraphicFramePr/>
          <p:nvPr>
            <p:custDataLst>
              <p:tags r:id="rId1"/>
            </p:custDataLst>
            <p:extLst>
              <p:ext uri="{D42A27DB-BD31-4B8C-83A1-F6EECF244321}">
                <p14:modId xmlns:p14="http://schemas.microsoft.com/office/powerpoint/2010/main" val="641973793"/>
              </p:ext>
            </p:extLst>
          </p:nvPr>
        </p:nvGraphicFramePr>
        <p:xfrm>
          <a:off x="1167765" y="4043680"/>
          <a:ext cx="9060815" cy="1981200"/>
        </p:xfrm>
        <a:graphic>
          <a:graphicData uri="http://schemas.openxmlformats.org/drawingml/2006/table">
            <a:tbl>
              <a:tblPr>
                <a:tableStyleId>{3B4B98B0-60AC-42C2-AFA5-B58CD77FA1E5}</a:tableStyleId>
              </a:tblPr>
              <a:tblGrid>
                <a:gridCol w="2268855">
                  <a:extLst>
                    <a:ext uri="{9D8B030D-6E8A-4147-A177-3AD203B41FA5}">
                      <a16:colId xmlns:a16="http://schemas.microsoft.com/office/drawing/2014/main" val="20000"/>
                    </a:ext>
                  </a:extLst>
                </a:gridCol>
                <a:gridCol w="2008505">
                  <a:extLst>
                    <a:ext uri="{9D8B030D-6E8A-4147-A177-3AD203B41FA5}">
                      <a16:colId xmlns:a16="http://schemas.microsoft.com/office/drawing/2014/main" val="20001"/>
                    </a:ext>
                  </a:extLst>
                </a:gridCol>
                <a:gridCol w="1539875">
                  <a:extLst>
                    <a:ext uri="{9D8B030D-6E8A-4147-A177-3AD203B41FA5}">
                      <a16:colId xmlns:a16="http://schemas.microsoft.com/office/drawing/2014/main" val="20002"/>
                    </a:ext>
                  </a:extLst>
                </a:gridCol>
                <a:gridCol w="1503045">
                  <a:extLst>
                    <a:ext uri="{9D8B030D-6E8A-4147-A177-3AD203B41FA5}">
                      <a16:colId xmlns:a16="http://schemas.microsoft.com/office/drawing/2014/main" val="20003"/>
                    </a:ext>
                  </a:extLst>
                </a:gridCol>
                <a:gridCol w="1740535">
                  <a:extLst>
                    <a:ext uri="{9D8B030D-6E8A-4147-A177-3AD203B41FA5}">
                      <a16:colId xmlns:a16="http://schemas.microsoft.com/office/drawing/2014/main" val="20004"/>
                    </a:ext>
                  </a:extLst>
                </a:gridCol>
              </a:tblGrid>
              <a:tr h="733425">
                <a:tc>
                  <a:txBody>
                    <a:bodyPr/>
                    <a:lstStyle/>
                    <a:p>
                      <a:pPr>
                        <a:buNone/>
                      </a:pPr>
                      <a:r>
                        <a:rPr lang="en-IN" b="1" dirty="0"/>
                        <a:t>Model</a:t>
                      </a:r>
                      <a:endParaRPr lang="en-IN" dirty="0"/>
                    </a:p>
                  </a:txBody>
                  <a:tcPr anchor="ctr">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lstStyle/>
                    <a:p>
                      <a:pPr>
                        <a:buNone/>
                      </a:pPr>
                      <a:r>
                        <a:rPr lang="en-IN" b="1"/>
                        <a:t>Accuracy (%)</a:t>
                      </a:r>
                      <a:endParaRPr lang="en-IN"/>
                    </a:p>
                  </a:txBody>
                  <a:tcPr anchor="ctr">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lstStyle/>
                    <a:p>
                      <a:pPr>
                        <a:buNone/>
                      </a:pPr>
                      <a:r>
                        <a:rPr lang="en-IN" b="1"/>
                        <a:t>Precision</a:t>
                      </a:r>
                      <a:endParaRPr lang="en-IN"/>
                    </a:p>
                  </a:txBody>
                  <a:tcPr anchor="ctr">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lstStyle/>
                    <a:p>
                      <a:pPr>
                        <a:buNone/>
                      </a:pPr>
                      <a:r>
                        <a:rPr lang="en-IN" b="1"/>
                        <a:t>Recall</a:t>
                      </a:r>
                      <a:endParaRPr lang="en-IN"/>
                    </a:p>
                  </a:txBody>
                  <a:tcPr anchor="ctr">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tc>
                  <a:txBody>
                    <a:bodyPr/>
                    <a:lstStyle/>
                    <a:p>
                      <a:pPr>
                        <a:buNone/>
                      </a:pPr>
                      <a:r>
                        <a:rPr lang="en-IN" b="1"/>
                        <a:t>F1-Score</a:t>
                      </a:r>
                      <a:endParaRPr lang="en-IN"/>
                    </a:p>
                  </a:txBody>
                  <a:tcPr anchor="ctr">
                    <a:lnL w="3175">
                      <a:solidFill>
                        <a:schemeClr val="tx1"/>
                      </a:solidFill>
                      <a:prstDash val="solid"/>
                    </a:lnL>
                    <a:lnR w="3175">
                      <a:solidFill>
                        <a:schemeClr val="tx1"/>
                      </a:solidFill>
                      <a:prstDash val="solid"/>
                    </a:lnR>
                    <a:lnT w="3175" cmpd="sng">
                      <a:solidFill>
                        <a:schemeClr val="tx1"/>
                      </a:solidFill>
                      <a:prstDash val="solid"/>
                    </a:lnT>
                    <a:lnB w="3175">
                      <a:solidFill>
                        <a:schemeClr val="tx1"/>
                      </a:solidFill>
                      <a:prstDash val="solid"/>
                    </a:lnB>
                  </a:tcPr>
                </a:tc>
                <a:extLst>
                  <a:ext uri="{0D108BD9-81ED-4DB2-BD59-A6C34878D82A}">
                    <a16:rowId xmlns:a16="http://schemas.microsoft.com/office/drawing/2014/main" val="10000"/>
                  </a:ext>
                </a:extLst>
              </a:tr>
              <a:tr h="632460">
                <a:tc>
                  <a:txBody>
                    <a:bodyPr/>
                    <a:lstStyle/>
                    <a:p>
                      <a:pPr>
                        <a:buNone/>
                      </a:pPr>
                      <a:r>
                        <a:rPr lang="en-IN" b="1" dirty="0"/>
                        <a:t>YOLOv8n</a:t>
                      </a:r>
                      <a:endParaRPr lang="en-IN" dirty="0"/>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buNone/>
                      </a:pPr>
                      <a:r>
                        <a:rPr lang="en-IN" b="1"/>
                        <a:t>97.5</a:t>
                      </a:r>
                      <a:endParaRPr lang="en-I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buNone/>
                      </a:pPr>
                      <a:r>
                        <a:rPr lang="en-IN" b="1"/>
                        <a:t>0.97</a:t>
                      </a:r>
                      <a:endParaRPr lang="en-I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buNone/>
                      </a:pPr>
                      <a:r>
                        <a:rPr lang="en-IN" b="1"/>
                        <a:t>0.97</a:t>
                      </a:r>
                      <a:endParaRPr lang="en-I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tc>
                  <a:txBody>
                    <a:bodyPr/>
                    <a:lstStyle/>
                    <a:p>
                      <a:pPr>
                        <a:buNone/>
                      </a:pPr>
                      <a:r>
                        <a:rPr lang="en-IN" b="1"/>
                        <a:t>0.95</a:t>
                      </a:r>
                      <a:endParaRPr lang="en-IN"/>
                    </a:p>
                  </a:txBody>
                  <a:tcPr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1"/>
                  </a:ext>
                </a:extLst>
              </a:tr>
              <a:tr h="615315">
                <a:tc>
                  <a:txBody>
                    <a:bodyPr/>
                    <a:lstStyle/>
                    <a:p>
                      <a:pPr>
                        <a:buNone/>
                      </a:pPr>
                      <a:r>
                        <a:rPr lang="en-IN" b="1" dirty="0"/>
                        <a:t>EfficientNet-B4</a:t>
                      </a:r>
                      <a:endParaRPr lang="en-IN" dirty="0"/>
                    </a:p>
                  </a:txBody>
                  <a:tcPr anchor="ctr">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lstStyle/>
                    <a:p>
                      <a:pPr>
                        <a:buNone/>
                      </a:pPr>
                      <a:r>
                        <a:rPr lang="en-IN" b="1"/>
                        <a:t>96.4</a:t>
                      </a:r>
                      <a:endParaRPr lang="en-IN"/>
                    </a:p>
                  </a:txBody>
                  <a:tcPr anchor="ctr">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lstStyle/>
                    <a:p>
                      <a:pPr>
                        <a:buNone/>
                      </a:pPr>
                      <a:r>
                        <a:rPr lang="en-IN" b="1"/>
                        <a:t>0.94</a:t>
                      </a:r>
                      <a:endParaRPr lang="en-IN"/>
                    </a:p>
                  </a:txBody>
                  <a:tcPr anchor="ctr">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lstStyle/>
                    <a:p>
                      <a:pPr>
                        <a:buNone/>
                      </a:pPr>
                      <a:r>
                        <a:rPr lang="en-IN" b="1"/>
                        <a:t>0.95</a:t>
                      </a:r>
                      <a:endParaRPr lang="en-IN"/>
                    </a:p>
                  </a:txBody>
                  <a:tcPr anchor="ctr">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tc>
                  <a:txBody>
                    <a:bodyPr/>
                    <a:lstStyle/>
                    <a:p>
                      <a:pPr>
                        <a:buNone/>
                      </a:pPr>
                      <a:r>
                        <a:rPr lang="en-IN" b="1" dirty="0"/>
                        <a:t>0.90</a:t>
                      </a:r>
                      <a:endParaRPr lang="en-IN" dirty="0"/>
                    </a:p>
                  </a:txBody>
                  <a:tcPr anchor="ctr">
                    <a:lnL w="3175">
                      <a:solidFill>
                        <a:schemeClr val="tx1"/>
                      </a:solidFill>
                      <a:prstDash val="solid"/>
                    </a:lnL>
                    <a:lnR w="3175">
                      <a:solidFill>
                        <a:schemeClr val="tx1"/>
                      </a:solidFill>
                      <a:prstDash val="solid"/>
                    </a:lnR>
                    <a:lnT w="3175">
                      <a:solidFill>
                        <a:schemeClr val="tx1"/>
                      </a:solidFill>
                      <a:prstDash val="solid"/>
                    </a:lnT>
                    <a:lnB w="3175" cmpd="sng">
                      <a:solidFill>
                        <a:schemeClr val="tx1"/>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392555"/>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9" name="Content Placeholder 8"/>
          <p:cNvSpPr>
            <a:spLocks noGrp="1"/>
          </p:cNvSpPr>
          <p:nvPr>
            <p:ph idx="1"/>
          </p:nvPr>
        </p:nvSpPr>
        <p:spPr>
          <a:xfrm>
            <a:off x="975360" y="1493134"/>
            <a:ext cx="10275570" cy="3962786"/>
          </a:xfrm>
        </p:spPr>
        <p:txBody>
          <a:bodyPr>
            <a:noAutofit/>
          </a:bodyPr>
          <a:lstStyle/>
          <a:p>
            <a:pPr marL="0" indent="0">
              <a:buClrTx/>
              <a:buNone/>
            </a:pPr>
            <a:endParaRPr lang="en-US" altLang="en-US" sz="2000" dirty="0">
              <a:latin typeface="Times New Roman" panose="02020603050405020304" pitchFamily="18" charset="0"/>
              <a:ea typeface="Arial" panose="020B0604020202020204"/>
            </a:endParaRPr>
          </a:p>
          <a:p>
            <a:r>
              <a:rPr lang="en-IN" sz="2000" dirty="0"/>
              <a:t> </a:t>
            </a:r>
            <a:r>
              <a:rPr lang="en-IN" sz="2000" b="1" dirty="0"/>
              <a:t>Multi-zonal forest classification system</a:t>
            </a:r>
            <a:r>
              <a:rPr lang="en-IN" sz="2000" dirty="0"/>
              <a:t> using </a:t>
            </a:r>
            <a:r>
              <a:rPr lang="en-IN" sz="2000" b="1" dirty="0"/>
              <a:t>YOLOv8</a:t>
            </a:r>
            <a:r>
              <a:rPr lang="en-IN" sz="2000" dirty="0"/>
              <a:t> and </a:t>
            </a:r>
            <a:r>
              <a:rPr lang="en-IN" sz="2000" b="1" dirty="0"/>
              <a:t>EuroSAT dataset</a:t>
            </a:r>
            <a:endParaRPr lang="en-IN" sz="2000" dirty="0"/>
          </a:p>
          <a:p>
            <a:r>
              <a:rPr lang="en-IN" sz="2000" b="1" dirty="0"/>
              <a:t>High accuracy</a:t>
            </a:r>
            <a:r>
              <a:rPr lang="en-IN" sz="2000" dirty="0"/>
              <a:t> and </a:t>
            </a:r>
            <a:r>
              <a:rPr lang="en-IN" sz="2000" b="1" dirty="0"/>
              <a:t>fast processing</a:t>
            </a:r>
            <a:r>
              <a:rPr lang="en-IN" sz="2000" dirty="0"/>
              <a:t> for </a:t>
            </a:r>
            <a:r>
              <a:rPr lang="en-IN" sz="2000" b="1" dirty="0"/>
              <a:t>real-time forest monitoring</a:t>
            </a:r>
            <a:endParaRPr lang="en-IN" sz="2000" dirty="0"/>
          </a:p>
          <a:p>
            <a:r>
              <a:rPr lang="en-IN" sz="2000" dirty="0"/>
              <a:t> </a:t>
            </a:r>
            <a:r>
              <a:rPr lang="en-IN" sz="2000" b="1" dirty="0"/>
              <a:t>YOLOv8</a:t>
            </a:r>
            <a:r>
              <a:rPr lang="en-IN" sz="2000" dirty="0"/>
              <a:t> performed </a:t>
            </a:r>
            <a:r>
              <a:rPr lang="en-IN" sz="2000" b="1" dirty="0"/>
              <a:t>better than EfficientNet-B4</a:t>
            </a:r>
            <a:r>
              <a:rPr lang="en-IN" sz="2000" dirty="0"/>
              <a:t> with </a:t>
            </a:r>
            <a:r>
              <a:rPr lang="en-IN" sz="2000" b="1" dirty="0"/>
              <a:t>less computation</a:t>
            </a:r>
            <a:endParaRPr lang="en-IN" sz="2000" dirty="0"/>
          </a:p>
          <a:p>
            <a:r>
              <a:rPr lang="en-IN" sz="2000" dirty="0"/>
              <a:t> Supports </a:t>
            </a:r>
            <a:r>
              <a:rPr lang="en-IN" sz="2000" b="1" dirty="0"/>
              <a:t>large-scale environmental analysis</a:t>
            </a:r>
            <a:r>
              <a:rPr lang="en-IN" sz="2000" dirty="0"/>
              <a:t> and </a:t>
            </a:r>
            <a:r>
              <a:rPr lang="en-IN" sz="2000" b="1" dirty="0"/>
              <a:t>sustainable forest management</a:t>
            </a:r>
            <a:endParaRPr lang="en-IN" sz="2000" dirty="0"/>
          </a:p>
          <a:p>
            <a:r>
              <a:rPr lang="en-IN" sz="2000" dirty="0"/>
              <a:t> </a:t>
            </a:r>
            <a:r>
              <a:rPr lang="en-IN" sz="2000" b="1" dirty="0"/>
              <a:t>Future work:</a:t>
            </a:r>
            <a:r>
              <a:rPr lang="en-IN" sz="2000" dirty="0"/>
              <a:t> expand dataset and optimize model for </a:t>
            </a:r>
            <a:r>
              <a:rPr lang="en-IN" sz="2000" b="1" dirty="0"/>
              <a:t>regional generalization</a:t>
            </a:r>
            <a:r>
              <a:rPr lang="en-IN" sz="2000" dirty="0"/>
              <a:t> and </a:t>
            </a:r>
            <a:r>
              <a:rPr lang="en-IN" sz="2000" b="1" dirty="0"/>
              <a:t>real-time use</a:t>
            </a:r>
            <a:endParaRPr lang="en-IN" sz="2000" dirty="0"/>
          </a:p>
          <a:p>
            <a:pPr lvl="0"/>
            <a:r>
              <a:rPr lang="en-IN" sz="2000" b="1" dirty="0"/>
              <a:t>Improved detection</a:t>
            </a:r>
            <a:r>
              <a:rPr lang="en-IN" sz="2000" dirty="0"/>
              <a:t> of diverse forest zones across different geographical areas</a:t>
            </a:r>
          </a:p>
          <a:p>
            <a:pPr lvl="0"/>
            <a:r>
              <a:rPr lang="en-IN" sz="2000" b="1" dirty="0"/>
              <a:t>Reduced training time</a:t>
            </a:r>
            <a:r>
              <a:rPr lang="en-IN" sz="2000" dirty="0"/>
              <a:t> and </a:t>
            </a:r>
            <a:r>
              <a:rPr lang="en-IN" sz="2000" b="1" dirty="0"/>
              <a:t>lower resource consumption</a:t>
            </a:r>
            <a:r>
              <a:rPr lang="en-IN" sz="2000" dirty="0"/>
              <a:t> compared to other models</a:t>
            </a:r>
          </a:p>
          <a:p>
            <a:pPr lvl="0"/>
            <a:r>
              <a:rPr lang="en-IN" sz="2000" b="1" dirty="0"/>
              <a:t>Contributes to climate studies</a:t>
            </a:r>
            <a:r>
              <a:rPr lang="en-IN" sz="2000" dirty="0"/>
              <a:t> and </a:t>
            </a:r>
            <a:r>
              <a:rPr lang="en-IN" sz="2000" b="1" dirty="0"/>
              <a:t>deforestation tracking</a:t>
            </a:r>
            <a:r>
              <a:rPr lang="en-IN" sz="2000" dirty="0"/>
              <a:t> using satellite imagery</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dirty="0">
              <a:latin typeface="Times New Roman" panose="02020603050405020304" pitchFamily="18" charset="0"/>
              <a:cs typeface="Times New Roman" panose="02020603050405020304" pitchFamily="18" charset="0"/>
              <a:sym typeface="+mn-ea"/>
            </a:endParaRPr>
          </a:p>
          <a:p>
            <a:r>
              <a:rPr lang="en-US" dirty="0">
                <a:latin typeface="Times New Roman" panose="02020603050405020304" pitchFamily="18" charset="0"/>
                <a:cs typeface="Times New Roman" panose="02020603050405020304" pitchFamily="18" charset="0"/>
                <a:sym typeface="+mn-ea"/>
              </a:rPr>
              <a:t>10/11/2025</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18</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9" name="Content Placeholder 8"/>
          <p:cNvSpPr>
            <a:spLocks noGrp="1"/>
          </p:cNvSpPr>
          <p:nvPr>
            <p:ph idx="1"/>
          </p:nvPr>
        </p:nvSpPr>
        <p:spPr>
          <a:xfrm>
            <a:off x="744855" y="1253490"/>
            <a:ext cx="10802620" cy="5102860"/>
          </a:xfrm>
        </p:spPr>
        <p:txBody>
          <a:bodyPr>
            <a:noAutofit/>
          </a:bodyPr>
          <a:lstStyle/>
          <a:p>
            <a:r>
              <a:rPr lang="en-IN" sz="1400" dirty="0">
                <a:latin typeface="Times New Roman" panose="02020603050405020304" pitchFamily="18" charset="0"/>
                <a:cs typeface="Times New Roman" panose="02020603050405020304" pitchFamily="18" charset="0"/>
              </a:rPr>
              <a:t>[1] P. Kovacovic, R. Pirnik, J. Kafkova, M. Michalik, A. </a:t>
            </a:r>
            <a:r>
              <a:rPr lang="en-IN" sz="1400" dirty="0" err="1">
                <a:latin typeface="Times New Roman" panose="02020603050405020304" pitchFamily="18" charset="0"/>
                <a:cs typeface="Times New Roman" panose="02020603050405020304" pitchFamily="18" charset="0"/>
              </a:rPr>
              <a:t>Kanalikova</a:t>
            </a:r>
            <a:r>
              <a:rPr lang="en-IN" sz="1400" dirty="0">
                <a:latin typeface="Times New Roman" panose="02020603050405020304" pitchFamily="18" charset="0"/>
                <a:cs typeface="Times New Roman" panose="02020603050405020304" pitchFamily="18" charset="0"/>
              </a:rPr>
              <a:t>, and P. Kuchar, ”Satellite-Based Forest Stand Detection Using Artificial Intelligence,” IEEE Access, vol. 13, pp. 10898–10915, Jan. 2025,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10.1109/AC CESS.2025.3528215.</a:t>
            </a:r>
          </a:p>
          <a:p>
            <a:r>
              <a:rPr lang="en-IN" sz="1400" dirty="0">
                <a:latin typeface="Times New Roman" panose="02020603050405020304" pitchFamily="18" charset="0"/>
                <a:cs typeface="Times New Roman" panose="02020603050405020304" pitchFamily="18" charset="0"/>
              </a:rPr>
              <a:t> [2] I. Corley, L. Sharma, and R. Crasto, ”Landsat-Bench: Datasets and Benchmarks for Landsat Foundation Mod </a:t>
            </a:r>
            <a:r>
              <a:rPr lang="en-IN" sz="1400" dirty="0" err="1">
                <a:latin typeface="Times New Roman" panose="02020603050405020304" pitchFamily="18" charset="0"/>
                <a:cs typeface="Times New Roman" panose="02020603050405020304" pitchFamily="18" charset="0"/>
              </a:rPr>
              <a:t>els</a:t>
            </a:r>
            <a:r>
              <a:rPr lang="en-IN" sz="1400" dirty="0">
                <a:latin typeface="Times New Roman" panose="02020603050405020304" pitchFamily="18" charset="0"/>
                <a:cs typeface="Times New Roman" panose="02020603050405020304" pitchFamily="18" charset="0"/>
              </a:rPr>
              <a:t>,” in Proc. 42nd Int. Conf. on Machine Learning, Van </a:t>
            </a:r>
            <a:r>
              <a:rPr lang="en-IN" sz="1400" dirty="0" err="1">
                <a:latin typeface="Times New Roman" panose="02020603050405020304" pitchFamily="18" charset="0"/>
                <a:cs typeface="Times New Roman" panose="02020603050405020304" pitchFamily="18" charset="0"/>
              </a:rPr>
              <a:t>couver</a:t>
            </a:r>
            <a:r>
              <a:rPr lang="en-IN" sz="1400" dirty="0">
                <a:latin typeface="Times New Roman" panose="02020603050405020304" pitchFamily="18" charset="0"/>
                <a:cs typeface="Times New Roman" panose="02020603050405020304" pitchFamily="18" charset="0"/>
              </a:rPr>
              <a:t>, Canada, PMLR 267, 2025. [Online]. Available: </a:t>
            </a:r>
            <a:r>
              <a:rPr lang="en-IN" sz="1400" dirty="0">
                <a:latin typeface="Times New Roman" panose="02020603050405020304" pitchFamily="18" charset="0"/>
                <a:cs typeface="Times New Roman" panose="02020603050405020304" pitchFamily="18" charset="0"/>
                <a:hlinkClick r:id="rId2"/>
              </a:rPr>
              <a:t>https://</a:t>
            </a:r>
            <a:r>
              <a:rPr lang="en-IN" sz="1400">
                <a:latin typeface="Times New Roman" panose="02020603050405020304" pitchFamily="18" charset="0"/>
                <a:cs typeface="Times New Roman" panose="02020603050405020304" pitchFamily="18" charset="0"/>
                <a:hlinkClick r:id="rId2"/>
              </a:rPr>
              <a:t>arxiv</a:t>
            </a:r>
            <a:r>
              <a:rPr lang="en-IN" sz="1400" dirty="0">
                <a:latin typeface="Times New Roman" panose="02020603050405020304" pitchFamily="18" charset="0"/>
                <a:cs typeface="Times New Roman" panose="02020603050405020304" pitchFamily="18" charset="0"/>
                <a:hlinkClick r:id="rId2"/>
              </a:rPr>
              <a:t>.org/abs/2506.08780</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[3] S. N. Amani, A. Yazdanpanah, and F. D. Yeganeh, ”Deep Transfer Learning-Based Forest Fire Susceptibility Map ping Using Satellite Imagery,” IEEE J. Sel. Topics Appl. Earth </a:t>
            </a:r>
            <a:r>
              <a:rPr lang="en-IN" sz="1400" dirty="0" err="1">
                <a:latin typeface="Times New Roman" panose="02020603050405020304" pitchFamily="18" charset="0"/>
                <a:cs typeface="Times New Roman" panose="02020603050405020304" pitchFamily="18" charset="0"/>
              </a:rPr>
              <a:t>Observ</a:t>
            </a:r>
            <a:r>
              <a:rPr lang="en-IN" sz="1400" dirty="0">
                <a:latin typeface="Times New Roman" panose="02020603050405020304" pitchFamily="18" charset="0"/>
                <a:cs typeface="Times New Roman" panose="02020603050405020304" pitchFamily="18" charset="0"/>
              </a:rPr>
              <a:t>. Remote Sens., vol. 16, pp. 6855–6869, 2023,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10.1109/JSTARS.2023.3262657. </a:t>
            </a:r>
          </a:p>
          <a:p>
            <a:r>
              <a:rPr lang="en-IN" sz="1400" dirty="0">
                <a:latin typeface="Times New Roman" panose="02020603050405020304" pitchFamily="18" charset="0"/>
                <a:cs typeface="Times New Roman" panose="02020603050405020304" pitchFamily="18" charset="0"/>
              </a:rPr>
              <a:t>[4] C. H. Lu, Y. Zhang, Y. P. Wen, and D. Q. Lin, ”UAV and Deep Learning-Based Forest Fire De </a:t>
            </a:r>
            <a:r>
              <a:rPr lang="en-IN" sz="1400" dirty="0" err="1">
                <a:latin typeface="Times New Roman" panose="02020603050405020304" pitchFamily="18" charset="0"/>
                <a:cs typeface="Times New Roman" panose="02020603050405020304" pitchFamily="18" charset="0"/>
              </a:rPr>
              <a:t>tection</a:t>
            </a:r>
            <a:r>
              <a:rPr lang="en-IN" sz="1400" dirty="0">
                <a:latin typeface="Times New Roman" panose="02020603050405020304" pitchFamily="18" charset="0"/>
                <a:cs typeface="Times New Roman" panose="02020603050405020304" pitchFamily="18" charset="0"/>
              </a:rPr>
              <a:t> and Early Warning System,” IEEE Access, vol. 10, pp. 33089–33097, 2022,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10.1109/AC CESS.2022.3161375.</a:t>
            </a:r>
          </a:p>
          <a:p>
            <a:r>
              <a:rPr lang="en-IN" sz="1400" dirty="0">
                <a:latin typeface="Times New Roman" panose="02020603050405020304" pitchFamily="18" charset="0"/>
                <a:cs typeface="Times New Roman" panose="02020603050405020304" pitchFamily="18" charset="0"/>
              </a:rPr>
              <a:t> [5] A. J. Gonzalez, A. E. Macedo, C. J. Ribeiro, and L. C. S. </a:t>
            </a:r>
            <a:r>
              <a:rPr lang="en-IN" sz="1400" dirty="0" err="1">
                <a:latin typeface="Times New Roman" panose="02020603050405020304" pitchFamily="18" charset="0"/>
                <a:cs typeface="Times New Roman" panose="02020603050405020304" pitchFamily="18" charset="0"/>
              </a:rPr>
              <a:t>Magalh</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aes</a:t>
            </a:r>
            <a:r>
              <a:rPr lang="en-IN" sz="1400" dirty="0">
                <a:latin typeface="Times New Roman" panose="02020603050405020304" pitchFamily="18" charset="0"/>
                <a:cs typeface="Times New Roman" panose="02020603050405020304" pitchFamily="18" charset="0"/>
              </a:rPr>
              <a:t>, ”A Data-Driven Pipeline for Deforestation Alert System Based on Satellite Images,” IEEE Trans. </a:t>
            </a:r>
            <a:r>
              <a:rPr lang="en-IN" sz="1400" dirty="0" err="1">
                <a:latin typeface="Times New Roman" panose="02020603050405020304" pitchFamily="18" charset="0"/>
                <a:cs typeface="Times New Roman" panose="02020603050405020304" pitchFamily="18" charset="0"/>
              </a:rPr>
              <a:t>Geosci</a:t>
            </a:r>
            <a:r>
              <a:rPr lang="en-IN" sz="1400" dirty="0">
                <a:latin typeface="Times New Roman" panose="02020603050405020304" pitchFamily="18" charset="0"/>
                <a:cs typeface="Times New Roman" panose="02020603050405020304" pitchFamily="18" charset="0"/>
              </a:rPr>
              <a:t>. Remote Sens., vol. 61, pp. 1–13, 2023,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10.1109/TGRS.2022.3197080. </a:t>
            </a:r>
          </a:p>
          <a:p>
            <a:r>
              <a:rPr lang="en-IN" sz="1400" dirty="0">
                <a:latin typeface="Times New Roman" panose="02020603050405020304" pitchFamily="18" charset="0"/>
                <a:cs typeface="Times New Roman" panose="02020603050405020304" pitchFamily="18" charset="0"/>
              </a:rPr>
              <a:t>[6] A. J. da Silva Junior, M. da Costa Silva, and A. L. M. Leal, ”Tree Species Recognition in the Amazon Rain forest Using Deep Learning and Hyperspectral Images,” in Proc. 2023 IEEE Int. </a:t>
            </a:r>
            <a:r>
              <a:rPr lang="en-IN" sz="1400" dirty="0" err="1">
                <a:latin typeface="Times New Roman" panose="02020603050405020304" pitchFamily="18" charset="0"/>
                <a:cs typeface="Times New Roman" panose="02020603050405020304" pitchFamily="18" charset="0"/>
              </a:rPr>
              <a:t>Geosci</a:t>
            </a:r>
            <a:r>
              <a:rPr lang="en-IN" sz="1400" dirty="0">
                <a:latin typeface="Times New Roman" panose="02020603050405020304" pitchFamily="18" charset="0"/>
                <a:cs typeface="Times New Roman" panose="02020603050405020304" pitchFamily="18" charset="0"/>
              </a:rPr>
              <a:t>. Remote Sens. Symp. (IGARSS), Pasadena, CA, USA, pp. 1640–1643, 2023,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10.1109/IGARSS52108.2023.10281788.</a:t>
            </a:r>
          </a:p>
          <a:p>
            <a:r>
              <a:rPr lang="en-IN" sz="1400" dirty="0">
                <a:latin typeface="Times New Roman" panose="02020603050405020304" pitchFamily="18" charset="0"/>
                <a:cs typeface="Times New Roman" panose="02020603050405020304" pitchFamily="18" charset="0"/>
              </a:rPr>
              <a:t> [7] F. Petitjean, P. </a:t>
            </a:r>
            <a:r>
              <a:rPr lang="en-IN" sz="1400" dirty="0" err="1">
                <a:latin typeface="Times New Roman" panose="02020603050405020304" pitchFamily="18" charset="0"/>
                <a:cs typeface="Times New Roman" panose="02020603050405020304" pitchFamily="18" charset="0"/>
              </a:rPr>
              <a:t>Ganc¸arski</a:t>
            </a:r>
            <a:r>
              <a:rPr lang="en-IN" sz="1400" dirty="0">
                <a:latin typeface="Times New Roman" panose="02020603050405020304" pitchFamily="18" charset="0"/>
                <a:cs typeface="Times New Roman" panose="02020603050405020304" pitchFamily="18" charset="0"/>
              </a:rPr>
              <a:t>, F. Gillet, and T. </a:t>
            </a:r>
            <a:r>
              <a:rPr lang="en-IN" sz="1400" dirty="0" err="1">
                <a:latin typeface="Times New Roman" panose="02020603050405020304" pitchFamily="18" charset="0"/>
                <a:cs typeface="Times New Roman" panose="02020603050405020304" pitchFamily="18" charset="0"/>
              </a:rPr>
              <a:t>Ganc¸arski</a:t>
            </a:r>
            <a:r>
              <a:rPr lang="en-IN" sz="1400" dirty="0">
                <a:latin typeface="Times New Roman" panose="02020603050405020304" pitchFamily="18" charset="0"/>
                <a:cs typeface="Times New Roman" panose="02020603050405020304" pitchFamily="18" charset="0"/>
              </a:rPr>
              <a:t>, ”Satellite Image Time Series Analysis Under Time Warping,” IEEE Trans. </a:t>
            </a:r>
            <a:r>
              <a:rPr lang="en-IN" sz="1400" dirty="0" err="1">
                <a:latin typeface="Times New Roman" panose="02020603050405020304" pitchFamily="18" charset="0"/>
                <a:cs typeface="Times New Roman" panose="02020603050405020304" pitchFamily="18" charset="0"/>
              </a:rPr>
              <a:t>Geosci</a:t>
            </a:r>
            <a:r>
              <a:rPr lang="en-IN" sz="1400" dirty="0">
                <a:latin typeface="Times New Roman" panose="02020603050405020304" pitchFamily="18" charset="0"/>
                <a:cs typeface="Times New Roman" panose="02020603050405020304" pitchFamily="18" charset="0"/>
              </a:rPr>
              <a:t>. Remote Sens., vol. 53, no. 6, pp. 3181–3192, Jun. 2015,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10.1109/TGRS.2014.2361383.</a:t>
            </a:r>
          </a:p>
          <a:p>
            <a:r>
              <a:rPr lang="en-IN" sz="1400" dirty="0">
                <a:latin typeface="Times New Roman" panose="02020603050405020304" pitchFamily="18" charset="0"/>
                <a:cs typeface="Times New Roman" panose="02020603050405020304" pitchFamily="18" charset="0"/>
              </a:rPr>
              <a:t> [8] D. S. K. Pillai, R. Mahajan, and A. Yadav, ”Deep Learning Based Forest Fire Detection Using Satellite Imagery and Weather Data,” in Proc. 2024 Int. Conf. on Environmental Intelligence (ICEI), Hyderabad, India, pp. 44–50, 2024.</a:t>
            </a:r>
          </a:p>
          <a:p>
            <a:r>
              <a:rPr lang="en-IN" sz="1400" dirty="0">
                <a:latin typeface="Times New Roman" panose="02020603050405020304" pitchFamily="18" charset="0"/>
                <a:cs typeface="Times New Roman" panose="02020603050405020304" pitchFamily="18" charset="0"/>
              </a:rPr>
              <a:t> [9] L. Valero, P. </a:t>
            </a:r>
            <a:r>
              <a:rPr lang="en-IN" sz="1400" dirty="0" err="1">
                <a:latin typeface="Times New Roman" panose="02020603050405020304" pitchFamily="18" charset="0"/>
                <a:cs typeface="Times New Roman" panose="02020603050405020304" pitchFamily="18" charset="0"/>
              </a:rPr>
              <a:t>Ghamisi</a:t>
            </a:r>
            <a:r>
              <a:rPr lang="en-IN" sz="1400" dirty="0">
                <a:latin typeface="Times New Roman" panose="02020603050405020304" pitchFamily="18" charset="0"/>
                <a:cs typeface="Times New Roman" panose="02020603050405020304" pitchFamily="18" charset="0"/>
              </a:rPr>
              <a:t>, and J. </a:t>
            </a:r>
            <a:r>
              <a:rPr lang="en-IN" sz="1400" dirty="0" err="1">
                <a:latin typeface="Times New Roman" panose="02020603050405020304" pitchFamily="18" charset="0"/>
                <a:cs typeface="Times New Roman" panose="02020603050405020304" pitchFamily="18" charset="0"/>
              </a:rPr>
              <a:t>Chanussot</a:t>
            </a:r>
            <a:r>
              <a:rPr lang="en-IN" sz="1400" dirty="0">
                <a:latin typeface="Times New Roman" panose="02020603050405020304" pitchFamily="18" charset="0"/>
                <a:cs typeface="Times New Roman" panose="02020603050405020304" pitchFamily="18" charset="0"/>
              </a:rPr>
              <a:t>, ”Improved Land Use Mapping Using Sentinel-2 Imagery and Semi-Supervised Learning,” IEEE </a:t>
            </a:r>
            <a:r>
              <a:rPr lang="en-IN" sz="1400" dirty="0" err="1">
                <a:latin typeface="Times New Roman" panose="02020603050405020304" pitchFamily="18" charset="0"/>
                <a:cs typeface="Times New Roman" panose="02020603050405020304" pitchFamily="18" charset="0"/>
              </a:rPr>
              <a:t>Geosci</a:t>
            </a:r>
            <a:r>
              <a:rPr lang="en-IN" sz="1400" dirty="0">
                <a:latin typeface="Times New Roman" panose="02020603050405020304" pitchFamily="18" charset="0"/>
                <a:cs typeface="Times New Roman" panose="02020603050405020304" pitchFamily="18" charset="0"/>
              </a:rPr>
              <a:t>. Remote Sens. Lett., vol. 15, no. 12, pp. 1939–1943, Dec. 2018,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10.1109/LGRS.2018.2852854. </a:t>
            </a: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19</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9" name="Content Placeholder 8"/>
          <p:cNvSpPr>
            <a:spLocks noGrp="1"/>
          </p:cNvSpPr>
          <p:nvPr>
            <p:ph idx="1"/>
          </p:nvPr>
        </p:nvSpPr>
        <p:spPr>
          <a:xfrm>
            <a:off x="744855" y="1253490"/>
            <a:ext cx="10913745" cy="5102225"/>
          </a:xfrm>
        </p:spPr>
        <p:txBody>
          <a:bodyPr>
            <a:noAutofit/>
          </a:bodyPr>
          <a:lstStyle/>
          <a:p>
            <a:r>
              <a:rPr lang="en-IN" sz="1400" dirty="0">
                <a:latin typeface="Times New Roman" panose="02020603050405020304" pitchFamily="18" charset="0"/>
                <a:cs typeface="Times New Roman" panose="02020603050405020304" pitchFamily="18" charset="0"/>
              </a:rPr>
              <a:t>[10] B. </a:t>
            </a:r>
            <a:r>
              <a:rPr lang="en-IN" sz="1400" dirty="0" err="1">
                <a:latin typeface="Times New Roman" panose="02020603050405020304" pitchFamily="18" charset="0"/>
                <a:cs typeface="Times New Roman" panose="02020603050405020304" pitchFamily="18" charset="0"/>
              </a:rPr>
              <a:t>Saricayir</a:t>
            </a:r>
            <a:r>
              <a:rPr lang="en-IN" sz="1400" dirty="0">
                <a:latin typeface="Times New Roman" panose="02020603050405020304" pitchFamily="18" charset="0"/>
                <a:cs typeface="Times New Roman" panose="02020603050405020304" pitchFamily="18" charset="0"/>
              </a:rPr>
              <a:t> and C. Ozcan, ”EfficientNet Deep Learning Model for Satellite Image Classification Using the Eu </a:t>
            </a:r>
            <a:r>
              <a:rPr lang="en-IN" sz="1400" dirty="0" err="1">
                <a:latin typeface="Times New Roman" panose="02020603050405020304" pitchFamily="18" charset="0"/>
                <a:cs typeface="Times New Roman" panose="02020603050405020304" pitchFamily="18" charset="0"/>
              </a:rPr>
              <a:t>roSAT</a:t>
            </a:r>
            <a:r>
              <a:rPr lang="en-IN" sz="1400" dirty="0">
                <a:latin typeface="Times New Roman" panose="02020603050405020304" pitchFamily="18" charset="0"/>
                <a:cs typeface="Times New Roman" panose="02020603050405020304" pitchFamily="18" charset="0"/>
              </a:rPr>
              <a:t> Dataset,” in Proc. 8th Int. Workshop on Computer </a:t>
            </a:r>
            <a:r>
              <a:rPr lang="en-IN" sz="1400" dirty="0" err="1">
                <a:latin typeface="Times New Roman" panose="02020603050405020304" pitchFamily="18" charset="0"/>
                <a:cs typeface="Times New Roman" panose="02020603050405020304" pitchFamily="18" charset="0"/>
              </a:rPr>
              <a:t>Modeling</a:t>
            </a:r>
            <a:r>
              <a:rPr lang="en-IN" sz="1400" dirty="0">
                <a:latin typeface="Times New Roman" panose="02020603050405020304" pitchFamily="18" charset="0"/>
                <a:cs typeface="Times New Roman" panose="02020603050405020304" pitchFamily="18" charset="0"/>
              </a:rPr>
              <a:t> and Intelligent Systems (CMIS-2025), Zapor </a:t>
            </a:r>
            <a:r>
              <a:rPr lang="en-IN" sz="1400" dirty="0" err="1">
                <a:latin typeface="Times New Roman" panose="02020603050405020304" pitchFamily="18" charset="0"/>
                <a:cs typeface="Times New Roman" panose="02020603050405020304" pitchFamily="18" charset="0"/>
              </a:rPr>
              <a:t>izhzhia</a:t>
            </a:r>
            <a:r>
              <a:rPr lang="en-IN" sz="1400" dirty="0">
                <a:latin typeface="Times New Roman" panose="02020603050405020304" pitchFamily="18" charset="0"/>
                <a:cs typeface="Times New Roman" panose="02020603050405020304" pitchFamily="18" charset="0"/>
              </a:rPr>
              <a:t>, Ukraine, May 2025. CEUR Workshop Proceed </a:t>
            </a:r>
            <a:r>
              <a:rPr lang="en-IN" sz="1400" dirty="0" err="1">
                <a:latin typeface="Times New Roman" panose="02020603050405020304" pitchFamily="18" charset="0"/>
                <a:cs typeface="Times New Roman" panose="02020603050405020304" pitchFamily="18" charset="0"/>
              </a:rPr>
              <a:t>ings</a:t>
            </a:r>
            <a:r>
              <a:rPr lang="en-IN" sz="1400" dirty="0">
                <a:latin typeface="Times New Roman" panose="02020603050405020304" pitchFamily="18" charset="0"/>
                <a:cs typeface="Times New Roman" panose="02020603050405020304" pitchFamily="18" charset="0"/>
              </a:rPr>
              <a:t>. [Online]. Available: https://ceur-ws.org</a:t>
            </a:r>
            <a:endParaRPr lang="en-US" altLang="en-US" sz="1400" dirty="0">
              <a:latin typeface="Times New Roman" panose="02020603050405020304" pitchFamily="18" charset="0"/>
              <a:cs typeface="Times New Roman" panose="02020603050405020304" pitchFamily="18" charset="0"/>
            </a:endParaRPr>
          </a:p>
          <a:p>
            <a:r>
              <a:rPr lang="en-IN" sz="1400" dirty="0"/>
              <a:t>[11] C. S. Preetham, C. Mahesh, C. S. Haripriya, R. Anirudh, and M. S. Sireesha, “Spectrum Sensing in Cognitive Radio by Use of Volume-Based Method,” *International Journal of Engineering and Technology (UAE)*, vol. 7, no. 2.17, pp. 732–735, 2018, </a:t>
            </a:r>
            <a:r>
              <a:rPr lang="en-IN" sz="1400" dirty="0" err="1"/>
              <a:t>doi</a:t>
            </a:r>
            <a:r>
              <a:rPr lang="en-IN" sz="1400" dirty="0"/>
              <a:t>: 10.14419/ijet.v7i2.17.11554. </a:t>
            </a:r>
          </a:p>
          <a:p>
            <a:r>
              <a:rPr lang="en-IN" sz="1400" dirty="0"/>
              <a:t>[12] K. </a:t>
            </a:r>
            <a:r>
              <a:rPr lang="en-IN" sz="1400" dirty="0" err="1"/>
              <a:t>Lakshminadh</a:t>
            </a:r>
            <a:r>
              <a:rPr lang="en-IN" sz="1400" dirty="0"/>
              <a:t>, D. C. V. </a:t>
            </a:r>
            <a:r>
              <a:rPr lang="en-IN" sz="1400" dirty="0" err="1"/>
              <a:t>Guptha</a:t>
            </a:r>
            <a:r>
              <a:rPr lang="en-IN" sz="1400" dirty="0"/>
              <a:t>, J. Sai, K. Rajesh, S. Moturi, Y. Neelima, and D. V. Reddy, “Advanced Pest Identification: An Efficient Deep Learning Approach Using VGG Networks,” in *Proc. IEEE Int. Conf. on Interdisciplinary Approaches in Technology and Man </a:t>
            </a:r>
            <a:r>
              <a:rPr lang="en-IN" sz="1400" dirty="0" err="1"/>
              <a:t>agement</a:t>
            </a:r>
            <a:r>
              <a:rPr lang="en-IN" sz="1400" dirty="0"/>
              <a:t> for Social Innovation (IATMSI)*, 2025, pp. 215–220, </a:t>
            </a:r>
            <a:r>
              <a:rPr lang="en-IN" sz="1400" dirty="0" err="1"/>
              <a:t>doi</a:t>
            </a:r>
            <a:r>
              <a:rPr lang="en-IN" sz="1400" dirty="0"/>
              <a:t>: 10.1109/IATMSI64286.2025.10984619.</a:t>
            </a:r>
          </a:p>
          <a:p>
            <a:r>
              <a:rPr lang="en-IN" sz="1400" dirty="0"/>
              <a:t> [13] S. S. N. Rao, C. Sunitha, S. Najma, N. Nagalakshmi, T. G. R. Babu, and S. Moturi, “Advanced Water Quality Prediction: Leveraging Genetic Optimization and Ma chine Learning,” in *Proc. IEEE Int. Conf. on </a:t>
            </a:r>
            <a:r>
              <a:rPr lang="en-IN" sz="1400" dirty="0" err="1"/>
              <a:t>Interdisci</a:t>
            </a:r>
            <a:r>
              <a:rPr lang="en-IN" sz="1400" dirty="0"/>
              <a:t> </a:t>
            </a:r>
            <a:r>
              <a:rPr lang="en-IN" sz="1400" dirty="0" err="1"/>
              <a:t>plinary</a:t>
            </a:r>
            <a:r>
              <a:rPr lang="en-IN" sz="1400" dirty="0"/>
              <a:t> Approaches in Technology and Management for Social Innovation (IATMSI)*, 2025, pp. 301–306, </a:t>
            </a:r>
            <a:r>
              <a:rPr lang="en-IN" sz="1400" dirty="0" err="1"/>
              <a:t>doi</a:t>
            </a:r>
            <a:r>
              <a:rPr lang="en-IN" sz="1400" dirty="0"/>
              <a:t>: 10.1109/IATMSI64286.2025.10984615.</a:t>
            </a:r>
          </a:p>
          <a:p>
            <a:r>
              <a:rPr lang="en-IN" sz="1400" dirty="0"/>
              <a:t> [14] K. V. N. Reddy, Y. Narendra, M. A. N. Reddy, A. Ramu, D. V. Reddy, and S. Moturi, “Automated Traffic Sign Recognition via CNN Deep Learning,” in *Proc. IEEE Int. Conf. on Interdisciplinary Ap </a:t>
            </a:r>
            <a:r>
              <a:rPr lang="en-IN" sz="1400" dirty="0" err="1"/>
              <a:t>proaches</a:t>
            </a:r>
            <a:r>
              <a:rPr lang="en-IN" sz="1400" dirty="0"/>
              <a:t> in Technology and Management for So </a:t>
            </a:r>
            <a:r>
              <a:rPr lang="en-IN" sz="1400" dirty="0" err="1"/>
              <a:t>cial</a:t>
            </a:r>
            <a:r>
              <a:rPr lang="en-IN" sz="1400" dirty="0"/>
              <a:t> Innovation (IATMSI)*, 2025, pp. 330–335, </a:t>
            </a:r>
            <a:r>
              <a:rPr lang="en-IN" sz="1400" dirty="0" err="1"/>
              <a:t>doi</a:t>
            </a:r>
            <a:r>
              <a:rPr lang="en-IN" sz="1400" dirty="0"/>
              <a:t>: 10.1109/IATMSI64286.2025.10985223.</a:t>
            </a:r>
          </a:p>
          <a:p>
            <a:r>
              <a:rPr lang="en-IN" sz="1400" dirty="0"/>
              <a:t> [15] S. N. T. Rao, T. C. Dulla, V. K. Kolla, G. S. Kurakula, M. Suneetha, S. Moturi, and D. V. Reddy, “Deep Learning Based Tomato Leaf Disease Identification: Enhancing Classification with </a:t>
            </a:r>
            <a:r>
              <a:rPr lang="en-IN" sz="1400" dirty="0" err="1"/>
              <a:t>AlexNet</a:t>
            </a:r>
            <a:r>
              <a:rPr lang="en-IN" sz="1400" dirty="0"/>
              <a:t>,” in *Proc. IEEE Int. Conf. on Interdisciplinary Approaches in Technology and Man </a:t>
            </a:r>
            <a:r>
              <a:rPr lang="en-IN" sz="1400" dirty="0" err="1"/>
              <a:t>agement</a:t>
            </a:r>
            <a:r>
              <a:rPr lang="en-IN" sz="1400" dirty="0"/>
              <a:t> for Social Innovation (IATMSI)*, 2025, pp. 360–365, </a:t>
            </a:r>
            <a:r>
              <a:rPr lang="en-IN" sz="1400" dirty="0" err="1"/>
              <a:t>doi</a:t>
            </a:r>
            <a:r>
              <a:rPr lang="en-IN" sz="1400" dirty="0"/>
              <a:t>: 10.1109/IATMSI64286.2025.10984969</a:t>
            </a:r>
            <a:endParaRPr lang="en-US" altLang="en-US" sz="14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No.1         Batch No. CB10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20</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endParaRPr lang="en-US">
              <a:latin typeface="Times New Roman" panose="02020603050405020304" pitchFamily="18" charset="0"/>
              <a:cs typeface="Times New Roman" panose="02020603050405020304" pitchFamily="18" charset="0"/>
              <a:sym typeface="+mn-ea"/>
            </a:endParaRPr>
          </a:p>
          <a:p>
            <a:r>
              <a:rPr lang="en-US">
                <a:latin typeface="Times New Roman" panose="02020603050405020304" pitchFamily="18" charset="0"/>
                <a:cs typeface="Times New Roman" panose="02020603050405020304" pitchFamily="18" charset="0"/>
                <a:sym typeface="+mn-ea"/>
              </a:rPr>
              <a:t>10/11/2025</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1        Batch No.AB4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21</a:t>
            </a:fld>
            <a:endParaRPr lang="en-US">
              <a:latin typeface="Times New Roman" panose="02020603050405020304" pitchFamily="18" charset="0"/>
              <a:cs typeface="Times New Roman" panose="02020603050405020304" pitchFamily="18" charset="0"/>
            </a:endParaRPr>
          </a:p>
        </p:txBody>
      </p:sp>
      <p:pic>
        <p:nvPicPr>
          <p:cNvPr id="1026" name="Picture 2" descr="Thank You Clipart | Customize Color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5060" y="1403903"/>
            <a:ext cx="5676262" cy="389588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DAC5598-4A78-956E-1198-95CA2E5DCA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4720" y="857250"/>
            <a:ext cx="7731760" cy="600075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94*155"/>
  <p:tag name="TABLE_ENDDRAG_RECT" val="118*318*694*15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509</TotalTime>
  <Words>3121</Words>
  <Application>Microsoft Office PowerPoint</Application>
  <PresentationFormat>Widescreen</PresentationFormat>
  <Paragraphs>298</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Office Theme</vt:lpstr>
      <vt:lpstr>PowerPoint Presentation</vt:lpstr>
      <vt:lpstr>CONTENTS</vt:lpstr>
      <vt:lpstr>ABSTRACT</vt:lpstr>
      <vt:lpstr>INTRODUCTION</vt:lpstr>
      <vt:lpstr>LITERATURE SURVEY</vt:lpstr>
      <vt:lpstr>LITERATURE SURVEY</vt:lpstr>
      <vt:lpstr>RESEARCH GAPS</vt:lpstr>
      <vt:lpstr>PROBLEM STATEMENT</vt:lpstr>
      <vt:lpstr>OBJECTIVES</vt:lpstr>
      <vt:lpstr>BLOCK DIAGRAM OR FLOW DIAGRAM</vt:lpstr>
      <vt:lpstr>METHODLOGY </vt:lpstr>
      <vt:lpstr>PowerPoint Presentation</vt:lpstr>
      <vt:lpstr>PowerPoint Presentation</vt:lpstr>
      <vt:lpstr>IMPLEMENTATION </vt:lpstr>
      <vt:lpstr>RESULTS &amp; ANALYSIS</vt:lpstr>
      <vt:lpstr>PowerPoint Presentation</vt:lpstr>
      <vt:lpstr>Model Performance Evaluation:</vt:lpstr>
      <vt:lpstr>CONCLUSION and FUTURE SCOPE</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VijayBhaskarReddy Nakka</cp:lastModifiedBy>
  <cp:revision>29</cp:revision>
  <dcterms:created xsi:type="dcterms:W3CDTF">2023-12-22T11:34:00Z</dcterms:created>
  <dcterms:modified xsi:type="dcterms:W3CDTF">2025-12-05T06:55:09Z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4BCE311B7AB04C1E8AF083D292882416_12</vt:lpwstr>
  </property>
  <property fmtid="{D5CDD505-2E9C-101B-9397-08002B2CF9AE}" pid="3" name="KSOProductBuildVer">
    <vt:lpwstr>1033-12.2.0.23131</vt:lpwstr>
  </property>
</Properties>
</file>