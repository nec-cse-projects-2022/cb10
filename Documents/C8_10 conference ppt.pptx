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5" d="100"/>
          <a:sy n="55" d="100"/>
        </p:scale>
        <p:origin x="1072" y="1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435292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43529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939" y="1444307"/>
            <a:ext cx="7192010" cy="661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6025" y="2407348"/>
            <a:ext cx="9379585" cy="2213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4848225"/>
            <a:ext cx="12192001" cy="20097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9528" y="424561"/>
            <a:ext cx="347852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2025</a:t>
            </a:r>
            <a:r>
              <a:rPr sz="3600" spc="-5" dirty="0"/>
              <a:t> </a:t>
            </a:r>
            <a:r>
              <a:rPr sz="3600" dirty="0"/>
              <a:t>IEEE</a:t>
            </a:r>
            <a:r>
              <a:rPr sz="3600" spc="-15" dirty="0"/>
              <a:t> </a:t>
            </a:r>
            <a:r>
              <a:rPr sz="3600" spc="-20" dirty="0"/>
              <a:t>iSSSC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164079" y="1138491"/>
            <a:ext cx="8291195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09950" marR="17780" indent="-3385185">
              <a:lnSpc>
                <a:spcPts val="1950"/>
              </a:lnSpc>
              <a:spcBef>
                <a:spcPts val="340"/>
              </a:spcBef>
            </a:pPr>
            <a:r>
              <a:rPr sz="1800" b="1" dirty="0">
                <a:latin typeface="Times New Roman"/>
                <a:cs typeface="Times New Roman"/>
              </a:rPr>
              <a:t>2025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IEEE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</a:t>
            </a:r>
            <a:r>
              <a:rPr sz="1800" b="1" baseline="23148" dirty="0">
                <a:latin typeface="Times New Roman"/>
                <a:cs typeface="Times New Roman"/>
              </a:rPr>
              <a:t>rd</a:t>
            </a:r>
            <a:r>
              <a:rPr sz="1800" b="1" spc="179" baseline="23148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International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Symposium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Sustainable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Energy,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Signal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Processing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&amp; </a:t>
            </a:r>
            <a:r>
              <a:rPr sz="1800" b="1" spc="-10" dirty="0">
                <a:latin typeface="Times New Roman"/>
                <a:cs typeface="Times New Roman"/>
              </a:rPr>
              <a:t>CyberSecurity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0504" y="2689129"/>
            <a:ext cx="2182558" cy="15845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5418" y="2689129"/>
            <a:ext cx="1807368" cy="15845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65641" y="2581378"/>
            <a:ext cx="2143296" cy="18030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35" y="59072"/>
            <a:ext cx="1224178" cy="6653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31213" y="4877371"/>
            <a:ext cx="9777724" cy="169123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6559" marR="408940" algn="ctr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Times New Roman"/>
                <a:cs typeface="Times New Roman"/>
              </a:rPr>
              <a:t>Paper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Title:</a:t>
            </a:r>
            <a:r>
              <a:rPr lang="en-IN" sz="1800" spc="-40" dirty="0">
                <a:latin typeface="Times New Roman"/>
                <a:cs typeface="Times New Roman"/>
              </a:rPr>
              <a:t> </a:t>
            </a:r>
            <a:r>
              <a:rPr lang="en-IN" dirty="0"/>
              <a:t>Enhanced Multi-Zonal Forest Type Classification Using YOLOv8 and EuroSAT for Scalable Environmental Monitoring</a:t>
            </a:r>
          </a:p>
          <a:p>
            <a:pPr marL="416559" marR="408940" algn="ctr">
              <a:lnSpc>
                <a:spcPct val="100800"/>
              </a:lnSpc>
              <a:spcBef>
                <a:spcPts val="85"/>
              </a:spcBef>
            </a:pPr>
            <a:r>
              <a:rPr lang="en-US" sz="1800" dirty="0">
                <a:latin typeface="Times New Roman"/>
                <a:cs typeface="Times New Roman"/>
              </a:rPr>
              <a:t>Paper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ID: </a:t>
            </a:r>
            <a:r>
              <a:rPr lang="en-US" spc="-10" dirty="0">
                <a:latin typeface="Trebuchet MS"/>
                <a:cs typeface="Times New Roman"/>
              </a:rPr>
              <a:t>637 </a:t>
            </a:r>
            <a:r>
              <a:rPr lang="en-US" sz="1800" spc="-10" dirty="0">
                <a:latin typeface="Trebuchet MS"/>
                <a:cs typeface="Trebuchet MS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Presenter</a:t>
            </a:r>
            <a:r>
              <a:rPr lang="en-US" sz="1800" spc="50" dirty="0">
                <a:latin typeface="Times New Roman"/>
                <a:cs typeface="Times New Roman"/>
              </a:rPr>
              <a:t> </a:t>
            </a:r>
            <a:r>
              <a:rPr lang="en-US" sz="1800" spc="-30" dirty="0">
                <a:latin typeface="Times New Roman"/>
                <a:cs typeface="Times New Roman"/>
              </a:rPr>
              <a:t>Name: </a:t>
            </a:r>
            <a:r>
              <a:rPr lang="en-US" spc="-30" dirty="0">
                <a:latin typeface="Trebuchet MS"/>
                <a:cs typeface="Times New Roman"/>
              </a:rPr>
              <a:t>Nakka Vijay Bhaskar Reddy</a:t>
            </a:r>
            <a:endParaRPr lang="en-US" sz="1800" dirty="0">
              <a:latin typeface="Trebuchet MS"/>
              <a:cs typeface="Trebuchet MS"/>
            </a:endParaRPr>
          </a:p>
          <a:p>
            <a:r>
              <a:rPr lang="en-IN" sz="1800" dirty="0">
                <a:latin typeface="Times New Roman"/>
                <a:cs typeface="Times New Roman"/>
              </a:rPr>
              <a:t>              </a:t>
            </a:r>
            <a:r>
              <a:rPr sz="1800" dirty="0">
                <a:latin typeface="Times New Roman"/>
                <a:cs typeface="Times New Roman"/>
              </a:rPr>
              <a:t>Authors:</a:t>
            </a:r>
            <a:r>
              <a:rPr lang="en-IN" sz="1800" dirty="0">
                <a:latin typeface="Times New Roman"/>
                <a:cs typeface="Times New Roman"/>
              </a:rPr>
              <a:t> </a:t>
            </a:r>
            <a:r>
              <a:rPr lang="en-IN" dirty="0"/>
              <a:t>Nakka Vijay Bhasker Reddy, Moturi Sirisha, Nagaram Prasad Rao,    </a:t>
            </a:r>
          </a:p>
          <a:p>
            <a:r>
              <a:rPr lang="en-IN" dirty="0"/>
              <a:t>                            Mundlamuri Vijaya Kumarachari, Dodda Venkata Reddy</a:t>
            </a:r>
          </a:p>
          <a:p>
            <a:pPr marL="12065" marR="5080" algn="ctr">
              <a:lnSpc>
                <a:spcPct val="99100"/>
              </a:lnSpc>
              <a:spcBef>
                <a:spcPts val="40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Affiliation: Department of CSE,</a:t>
            </a:r>
            <a:r>
              <a:rPr lang="en-IN" sz="1800" spc="-10" dirty="0">
                <a:latin typeface="Trebuchet MS"/>
                <a:cs typeface="Trebuchet MS"/>
              </a:rPr>
              <a:t>Narasaraopeta</a:t>
            </a:r>
            <a:r>
              <a:rPr lang="en-IN" sz="1800" spc="-120" dirty="0">
                <a:latin typeface="Trebuchet MS"/>
                <a:cs typeface="Trebuchet MS"/>
              </a:rPr>
              <a:t> </a:t>
            </a:r>
            <a:r>
              <a:rPr lang="en-IN" sz="1800" spc="-45" dirty="0">
                <a:latin typeface="Trebuchet MS"/>
                <a:cs typeface="Trebuchet MS"/>
              </a:rPr>
              <a:t>Engineering</a:t>
            </a:r>
            <a:r>
              <a:rPr lang="en-IN" sz="1800" spc="-75" dirty="0">
                <a:latin typeface="Trebuchet MS"/>
                <a:cs typeface="Trebuchet MS"/>
              </a:rPr>
              <a:t> </a:t>
            </a:r>
            <a:r>
              <a:rPr lang="en-IN" sz="1800" spc="-45" dirty="0">
                <a:latin typeface="Trebuchet MS"/>
                <a:cs typeface="Trebuchet MS"/>
              </a:rPr>
              <a:t>College ,Andhra pradesh , India</a:t>
            </a:r>
            <a:endParaRPr lang="en-IN"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" y="0"/>
              <a:ext cx="1133856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7575" y="628332"/>
            <a:ext cx="18288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10" dirty="0"/>
              <a:t>Outline</a:t>
            </a:r>
            <a:endParaRPr sz="4400"/>
          </a:p>
        </p:txBody>
      </p:sp>
      <p:grpSp>
        <p:nvGrpSpPr>
          <p:cNvPr id="6" name="object 6"/>
          <p:cNvGrpSpPr/>
          <p:nvPr/>
        </p:nvGrpSpPr>
        <p:grpSpPr>
          <a:xfrm>
            <a:off x="838200" y="1828800"/>
            <a:ext cx="10515600" cy="4343400"/>
            <a:chOff x="838200" y="1828800"/>
            <a:chExt cx="10515600" cy="4343400"/>
          </a:xfrm>
        </p:grpSpPr>
        <p:sp>
          <p:nvSpPr>
            <p:cNvPr id="7" name="object 7"/>
            <p:cNvSpPr/>
            <p:nvPr/>
          </p:nvSpPr>
          <p:spPr>
            <a:xfrm>
              <a:off x="838200" y="1828800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529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1"/>
                  </a:lnTo>
                  <a:lnTo>
                    <a:pt x="0" y="540003"/>
                  </a:lnTo>
                  <a:lnTo>
                    <a:pt x="4714" y="563373"/>
                  </a:lnTo>
                  <a:lnTo>
                    <a:pt x="17573" y="582469"/>
                  </a:lnTo>
                  <a:lnTo>
                    <a:pt x="36647" y="595350"/>
                  </a:lnTo>
                  <a:lnTo>
                    <a:pt x="60007" y="600075"/>
                  </a:lnTo>
                  <a:lnTo>
                    <a:pt x="10455529" y="600075"/>
                  </a:lnTo>
                  <a:lnTo>
                    <a:pt x="10478898" y="595350"/>
                  </a:lnTo>
                  <a:lnTo>
                    <a:pt x="10497994" y="582469"/>
                  </a:lnTo>
                  <a:lnTo>
                    <a:pt x="10510875" y="563373"/>
                  </a:lnTo>
                  <a:lnTo>
                    <a:pt x="10515600" y="540003"/>
                  </a:lnTo>
                  <a:lnTo>
                    <a:pt x="10515600" y="60071"/>
                  </a:lnTo>
                  <a:lnTo>
                    <a:pt x="10510875" y="36701"/>
                  </a:lnTo>
                  <a:lnTo>
                    <a:pt x="10497994" y="17605"/>
                  </a:lnTo>
                  <a:lnTo>
                    <a:pt x="10478898" y="4724"/>
                  </a:lnTo>
                  <a:lnTo>
                    <a:pt x="10455529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102" y="1989743"/>
              <a:ext cx="247337" cy="2783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38200" y="2581275"/>
              <a:ext cx="10515600" cy="590550"/>
            </a:xfrm>
            <a:custGeom>
              <a:avLst/>
              <a:gdLst/>
              <a:ahLst/>
              <a:cxnLst/>
              <a:rect l="l" t="t" r="r" b="b"/>
              <a:pathLst>
                <a:path w="10515600" h="590550">
                  <a:moveTo>
                    <a:pt x="10456545" y="0"/>
                  </a:moveTo>
                  <a:lnTo>
                    <a:pt x="59055" y="0"/>
                  </a:lnTo>
                  <a:lnTo>
                    <a:pt x="36068" y="4637"/>
                  </a:lnTo>
                  <a:lnTo>
                    <a:pt x="17297" y="17287"/>
                  </a:lnTo>
                  <a:lnTo>
                    <a:pt x="4641" y="36058"/>
                  </a:lnTo>
                  <a:lnTo>
                    <a:pt x="0" y="59054"/>
                  </a:lnTo>
                  <a:lnTo>
                    <a:pt x="0" y="531495"/>
                  </a:lnTo>
                  <a:lnTo>
                    <a:pt x="4641" y="554491"/>
                  </a:lnTo>
                  <a:lnTo>
                    <a:pt x="17297" y="573262"/>
                  </a:lnTo>
                  <a:lnTo>
                    <a:pt x="36068" y="585912"/>
                  </a:lnTo>
                  <a:lnTo>
                    <a:pt x="59055" y="590550"/>
                  </a:lnTo>
                  <a:lnTo>
                    <a:pt x="10456545" y="590550"/>
                  </a:lnTo>
                  <a:lnTo>
                    <a:pt x="10479541" y="585912"/>
                  </a:lnTo>
                  <a:lnTo>
                    <a:pt x="10498312" y="573262"/>
                  </a:lnTo>
                  <a:lnTo>
                    <a:pt x="10510962" y="554491"/>
                  </a:lnTo>
                  <a:lnTo>
                    <a:pt x="10515600" y="531495"/>
                  </a:lnTo>
                  <a:lnTo>
                    <a:pt x="10515600" y="59054"/>
                  </a:lnTo>
                  <a:lnTo>
                    <a:pt x="10510962" y="36058"/>
                  </a:lnTo>
                  <a:lnTo>
                    <a:pt x="10498312" y="17287"/>
                  </a:lnTo>
                  <a:lnTo>
                    <a:pt x="10479541" y="4637"/>
                  </a:lnTo>
                  <a:lnTo>
                    <a:pt x="1045654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4898" y="2734722"/>
              <a:ext cx="182078" cy="2837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8200" y="3324225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529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1"/>
                  </a:lnTo>
                  <a:lnTo>
                    <a:pt x="0" y="540004"/>
                  </a:lnTo>
                  <a:lnTo>
                    <a:pt x="4714" y="563373"/>
                  </a:lnTo>
                  <a:lnTo>
                    <a:pt x="17573" y="582469"/>
                  </a:lnTo>
                  <a:lnTo>
                    <a:pt x="36647" y="595350"/>
                  </a:lnTo>
                  <a:lnTo>
                    <a:pt x="60007" y="600075"/>
                  </a:lnTo>
                  <a:lnTo>
                    <a:pt x="10455529" y="600075"/>
                  </a:lnTo>
                  <a:lnTo>
                    <a:pt x="10478898" y="595350"/>
                  </a:lnTo>
                  <a:lnTo>
                    <a:pt x="10497994" y="582469"/>
                  </a:lnTo>
                  <a:lnTo>
                    <a:pt x="10510875" y="563373"/>
                  </a:lnTo>
                  <a:lnTo>
                    <a:pt x="10515600" y="540004"/>
                  </a:lnTo>
                  <a:lnTo>
                    <a:pt x="10515600" y="60071"/>
                  </a:lnTo>
                  <a:lnTo>
                    <a:pt x="10510875" y="36701"/>
                  </a:lnTo>
                  <a:lnTo>
                    <a:pt x="10497994" y="17605"/>
                  </a:lnTo>
                  <a:lnTo>
                    <a:pt x="10478898" y="4724"/>
                  </a:lnTo>
                  <a:lnTo>
                    <a:pt x="10455529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002" y="3492040"/>
              <a:ext cx="195871" cy="2645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8200" y="4076700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529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0"/>
                  </a:lnTo>
                  <a:lnTo>
                    <a:pt x="0" y="540004"/>
                  </a:lnTo>
                  <a:lnTo>
                    <a:pt x="4714" y="563373"/>
                  </a:lnTo>
                  <a:lnTo>
                    <a:pt x="17573" y="582469"/>
                  </a:lnTo>
                  <a:lnTo>
                    <a:pt x="36647" y="595350"/>
                  </a:lnTo>
                  <a:lnTo>
                    <a:pt x="60007" y="600075"/>
                  </a:lnTo>
                  <a:lnTo>
                    <a:pt x="10455529" y="600075"/>
                  </a:lnTo>
                  <a:lnTo>
                    <a:pt x="10478898" y="595350"/>
                  </a:lnTo>
                  <a:lnTo>
                    <a:pt x="10497994" y="582469"/>
                  </a:lnTo>
                  <a:lnTo>
                    <a:pt x="10510875" y="563373"/>
                  </a:lnTo>
                  <a:lnTo>
                    <a:pt x="10515600" y="540004"/>
                  </a:lnTo>
                  <a:lnTo>
                    <a:pt x="10515600" y="60070"/>
                  </a:lnTo>
                  <a:lnTo>
                    <a:pt x="10510875" y="36701"/>
                  </a:lnTo>
                  <a:lnTo>
                    <a:pt x="10497994" y="17605"/>
                  </a:lnTo>
                  <a:lnTo>
                    <a:pt x="10478898" y="4724"/>
                  </a:lnTo>
                  <a:lnTo>
                    <a:pt x="10455529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9098" y="4260227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79">
                  <a:moveTo>
                    <a:pt x="233667" y="213360"/>
                  </a:moveTo>
                  <a:lnTo>
                    <a:pt x="20612" y="213360"/>
                  </a:lnTo>
                  <a:lnTo>
                    <a:pt x="20612" y="0"/>
                  </a:lnTo>
                  <a:lnTo>
                    <a:pt x="0" y="0"/>
                  </a:lnTo>
                  <a:lnTo>
                    <a:pt x="0" y="213360"/>
                  </a:lnTo>
                  <a:lnTo>
                    <a:pt x="0" y="233680"/>
                  </a:lnTo>
                  <a:lnTo>
                    <a:pt x="233667" y="233680"/>
                  </a:lnTo>
                  <a:lnTo>
                    <a:pt x="233667" y="21336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9102" y="4259978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79">
                  <a:moveTo>
                    <a:pt x="20618" y="0"/>
                  </a:moveTo>
                  <a:lnTo>
                    <a:pt x="0" y="0"/>
                  </a:lnTo>
                  <a:lnTo>
                    <a:pt x="0" y="233659"/>
                  </a:lnTo>
                  <a:lnTo>
                    <a:pt x="233670" y="233659"/>
                  </a:lnTo>
                  <a:lnTo>
                    <a:pt x="233670" y="213042"/>
                  </a:lnTo>
                  <a:lnTo>
                    <a:pt x="20618" y="213042"/>
                  </a:lnTo>
                  <a:lnTo>
                    <a:pt x="20618" y="0"/>
                  </a:lnTo>
                  <a:close/>
                </a:path>
              </a:pathLst>
            </a:custGeom>
            <a:ln w="34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0338" y="4332137"/>
              <a:ext cx="38100" cy="120650"/>
            </a:xfrm>
            <a:custGeom>
              <a:avLst/>
              <a:gdLst/>
              <a:ahLst/>
              <a:cxnLst/>
              <a:rect l="l" t="t" r="r" b="b"/>
              <a:pathLst>
                <a:path w="38100" h="120650">
                  <a:moveTo>
                    <a:pt x="37799" y="0"/>
                  </a:moveTo>
                  <a:lnTo>
                    <a:pt x="0" y="0"/>
                  </a:lnTo>
                  <a:lnTo>
                    <a:pt x="0" y="120265"/>
                  </a:lnTo>
                  <a:lnTo>
                    <a:pt x="37799" y="120265"/>
                  </a:lnTo>
                  <a:lnTo>
                    <a:pt x="3779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0338" y="4332137"/>
              <a:ext cx="38100" cy="120650"/>
            </a:xfrm>
            <a:custGeom>
              <a:avLst/>
              <a:gdLst/>
              <a:ahLst/>
              <a:cxnLst/>
              <a:rect l="l" t="t" r="r" b="b"/>
              <a:pathLst>
                <a:path w="38100" h="120650">
                  <a:moveTo>
                    <a:pt x="0" y="120265"/>
                  </a:moveTo>
                  <a:lnTo>
                    <a:pt x="37799" y="120265"/>
                  </a:lnTo>
                  <a:lnTo>
                    <a:pt x="37799" y="0"/>
                  </a:lnTo>
                  <a:lnTo>
                    <a:pt x="0" y="0"/>
                  </a:lnTo>
                  <a:lnTo>
                    <a:pt x="0" y="120265"/>
                  </a:lnTo>
                  <a:close/>
                </a:path>
              </a:pathLst>
            </a:custGeom>
            <a:ln w="34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61883" y="4259978"/>
              <a:ext cx="38100" cy="193040"/>
            </a:xfrm>
            <a:custGeom>
              <a:avLst/>
              <a:gdLst/>
              <a:ahLst/>
              <a:cxnLst/>
              <a:rect l="l" t="t" r="r" b="b"/>
              <a:pathLst>
                <a:path w="38100" h="193039">
                  <a:moveTo>
                    <a:pt x="37799" y="0"/>
                  </a:moveTo>
                  <a:lnTo>
                    <a:pt x="0" y="0"/>
                  </a:lnTo>
                  <a:lnTo>
                    <a:pt x="0" y="192425"/>
                  </a:lnTo>
                  <a:lnTo>
                    <a:pt x="37799" y="192425"/>
                  </a:lnTo>
                  <a:lnTo>
                    <a:pt x="3779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61883" y="4259978"/>
              <a:ext cx="38100" cy="193040"/>
            </a:xfrm>
            <a:custGeom>
              <a:avLst/>
              <a:gdLst/>
              <a:ahLst/>
              <a:cxnLst/>
              <a:rect l="l" t="t" r="r" b="b"/>
              <a:pathLst>
                <a:path w="38100" h="193039">
                  <a:moveTo>
                    <a:pt x="0" y="192425"/>
                  </a:moveTo>
                  <a:lnTo>
                    <a:pt x="37799" y="192425"/>
                  </a:lnTo>
                  <a:lnTo>
                    <a:pt x="37799" y="0"/>
                  </a:lnTo>
                  <a:lnTo>
                    <a:pt x="0" y="0"/>
                  </a:lnTo>
                  <a:lnTo>
                    <a:pt x="0" y="192425"/>
                  </a:lnTo>
                  <a:close/>
                </a:path>
              </a:pathLst>
            </a:custGeom>
            <a:ln w="34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13428" y="4332137"/>
              <a:ext cx="38100" cy="120650"/>
            </a:xfrm>
            <a:custGeom>
              <a:avLst/>
              <a:gdLst/>
              <a:ahLst/>
              <a:cxnLst/>
              <a:rect l="l" t="t" r="r" b="b"/>
              <a:pathLst>
                <a:path w="38100" h="120650">
                  <a:moveTo>
                    <a:pt x="37799" y="0"/>
                  </a:moveTo>
                  <a:lnTo>
                    <a:pt x="0" y="0"/>
                  </a:lnTo>
                  <a:lnTo>
                    <a:pt x="0" y="120265"/>
                  </a:lnTo>
                  <a:lnTo>
                    <a:pt x="37799" y="120265"/>
                  </a:lnTo>
                  <a:lnTo>
                    <a:pt x="3779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13428" y="4332137"/>
              <a:ext cx="38100" cy="120650"/>
            </a:xfrm>
            <a:custGeom>
              <a:avLst/>
              <a:gdLst/>
              <a:ahLst/>
              <a:cxnLst/>
              <a:rect l="l" t="t" r="r" b="b"/>
              <a:pathLst>
                <a:path w="38100" h="120650">
                  <a:moveTo>
                    <a:pt x="0" y="120265"/>
                  </a:moveTo>
                  <a:lnTo>
                    <a:pt x="37799" y="120265"/>
                  </a:lnTo>
                  <a:lnTo>
                    <a:pt x="37799" y="0"/>
                  </a:lnTo>
                  <a:lnTo>
                    <a:pt x="0" y="0"/>
                  </a:lnTo>
                  <a:lnTo>
                    <a:pt x="0" y="120265"/>
                  </a:lnTo>
                  <a:close/>
                </a:path>
              </a:pathLst>
            </a:custGeom>
            <a:ln w="34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4973" y="4390552"/>
              <a:ext cx="38100" cy="62230"/>
            </a:xfrm>
            <a:custGeom>
              <a:avLst/>
              <a:gdLst/>
              <a:ahLst/>
              <a:cxnLst/>
              <a:rect l="l" t="t" r="r" b="b"/>
              <a:pathLst>
                <a:path w="38100" h="62229">
                  <a:moveTo>
                    <a:pt x="37799" y="0"/>
                  </a:moveTo>
                  <a:lnTo>
                    <a:pt x="0" y="0"/>
                  </a:lnTo>
                  <a:lnTo>
                    <a:pt x="0" y="61850"/>
                  </a:lnTo>
                  <a:lnTo>
                    <a:pt x="37799" y="61850"/>
                  </a:lnTo>
                  <a:lnTo>
                    <a:pt x="3779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64973" y="4390552"/>
              <a:ext cx="38100" cy="62230"/>
            </a:xfrm>
            <a:custGeom>
              <a:avLst/>
              <a:gdLst/>
              <a:ahLst/>
              <a:cxnLst/>
              <a:rect l="l" t="t" r="r" b="b"/>
              <a:pathLst>
                <a:path w="38100" h="62229">
                  <a:moveTo>
                    <a:pt x="0" y="61850"/>
                  </a:moveTo>
                  <a:lnTo>
                    <a:pt x="37799" y="61850"/>
                  </a:lnTo>
                  <a:lnTo>
                    <a:pt x="37799" y="0"/>
                  </a:lnTo>
                  <a:lnTo>
                    <a:pt x="0" y="0"/>
                  </a:lnTo>
                  <a:lnTo>
                    <a:pt x="0" y="61850"/>
                  </a:lnTo>
                  <a:close/>
                </a:path>
              </a:pathLst>
            </a:custGeom>
            <a:ln w="34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8200" y="4829175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529" y="0"/>
                  </a:moveTo>
                  <a:lnTo>
                    <a:pt x="60007" y="0"/>
                  </a:lnTo>
                  <a:lnTo>
                    <a:pt x="36647" y="4724"/>
                  </a:lnTo>
                  <a:lnTo>
                    <a:pt x="17573" y="17605"/>
                  </a:lnTo>
                  <a:lnTo>
                    <a:pt x="4714" y="36701"/>
                  </a:lnTo>
                  <a:lnTo>
                    <a:pt x="0" y="60070"/>
                  </a:lnTo>
                  <a:lnTo>
                    <a:pt x="0" y="540004"/>
                  </a:lnTo>
                  <a:lnTo>
                    <a:pt x="4714" y="563373"/>
                  </a:lnTo>
                  <a:lnTo>
                    <a:pt x="17573" y="582469"/>
                  </a:lnTo>
                  <a:lnTo>
                    <a:pt x="36647" y="595350"/>
                  </a:lnTo>
                  <a:lnTo>
                    <a:pt x="60007" y="600075"/>
                  </a:lnTo>
                  <a:lnTo>
                    <a:pt x="10455529" y="600075"/>
                  </a:lnTo>
                  <a:lnTo>
                    <a:pt x="10478898" y="595350"/>
                  </a:lnTo>
                  <a:lnTo>
                    <a:pt x="10497994" y="582469"/>
                  </a:lnTo>
                  <a:lnTo>
                    <a:pt x="10510875" y="563373"/>
                  </a:lnTo>
                  <a:lnTo>
                    <a:pt x="10515600" y="540004"/>
                  </a:lnTo>
                  <a:lnTo>
                    <a:pt x="10515600" y="60070"/>
                  </a:lnTo>
                  <a:lnTo>
                    <a:pt x="10510875" y="36701"/>
                  </a:lnTo>
                  <a:lnTo>
                    <a:pt x="10497994" y="17605"/>
                  </a:lnTo>
                  <a:lnTo>
                    <a:pt x="10478898" y="4724"/>
                  </a:lnTo>
                  <a:lnTo>
                    <a:pt x="10455529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6810" y="4989299"/>
              <a:ext cx="280679" cy="27041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8200" y="5572125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529" y="0"/>
                  </a:moveTo>
                  <a:lnTo>
                    <a:pt x="60007" y="0"/>
                  </a:lnTo>
                  <a:lnTo>
                    <a:pt x="36647" y="4714"/>
                  </a:lnTo>
                  <a:lnTo>
                    <a:pt x="17573" y="17573"/>
                  </a:lnTo>
                  <a:lnTo>
                    <a:pt x="4714" y="36647"/>
                  </a:lnTo>
                  <a:lnTo>
                    <a:pt x="0" y="60007"/>
                  </a:lnTo>
                  <a:lnTo>
                    <a:pt x="0" y="540067"/>
                  </a:lnTo>
                  <a:lnTo>
                    <a:pt x="4714" y="563427"/>
                  </a:lnTo>
                  <a:lnTo>
                    <a:pt x="17573" y="582501"/>
                  </a:lnTo>
                  <a:lnTo>
                    <a:pt x="36647" y="595360"/>
                  </a:lnTo>
                  <a:lnTo>
                    <a:pt x="60007" y="600075"/>
                  </a:lnTo>
                  <a:lnTo>
                    <a:pt x="10455529" y="600075"/>
                  </a:lnTo>
                  <a:lnTo>
                    <a:pt x="10478898" y="595360"/>
                  </a:lnTo>
                  <a:lnTo>
                    <a:pt x="10497994" y="582501"/>
                  </a:lnTo>
                  <a:lnTo>
                    <a:pt x="10510875" y="563427"/>
                  </a:lnTo>
                  <a:lnTo>
                    <a:pt x="10515600" y="540067"/>
                  </a:lnTo>
                  <a:lnTo>
                    <a:pt x="10515600" y="60007"/>
                  </a:lnTo>
                  <a:lnTo>
                    <a:pt x="10510875" y="36647"/>
                  </a:lnTo>
                  <a:lnTo>
                    <a:pt x="10497994" y="17573"/>
                  </a:lnTo>
                  <a:lnTo>
                    <a:pt x="10478898" y="4714"/>
                  </a:lnTo>
                  <a:lnTo>
                    <a:pt x="10455529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39549" y="5744469"/>
              <a:ext cx="293370" cy="265430"/>
            </a:xfrm>
            <a:custGeom>
              <a:avLst/>
              <a:gdLst/>
              <a:ahLst/>
              <a:cxnLst/>
              <a:rect l="l" t="t" r="r" b="b"/>
              <a:pathLst>
                <a:path w="293369" h="265429">
                  <a:moveTo>
                    <a:pt x="171817" y="0"/>
                  </a:moveTo>
                  <a:lnTo>
                    <a:pt x="24741" y="50070"/>
                  </a:lnTo>
                  <a:lnTo>
                    <a:pt x="10308" y="95134"/>
                  </a:lnTo>
                  <a:lnTo>
                    <a:pt x="10996" y="100141"/>
                  </a:lnTo>
                  <a:lnTo>
                    <a:pt x="12027" y="104814"/>
                  </a:lnTo>
                  <a:lnTo>
                    <a:pt x="5218" y="111944"/>
                  </a:lnTo>
                  <a:lnTo>
                    <a:pt x="1632" y="121546"/>
                  </a:lnTo>
                  <a:lnTo>
                    <a:pt x="236" y="132463"/>
                  </a:lnTo>
                  <a:lnTo>
                    <a:pt x="142" y="136859"/>
                  </a:lnTo>
                  <a:lnTo>
                    <a:pt x="106" y="138528"/>
                  </a:lnTo>
                  <a:lnTo>
                    <a:pt x="0" y="143536"/>
                  </a:lnTo>
                  <a:lnTo>
                    <a:pt x="547" y="152063"/>
                  </a:lnTo>
                  <a:lnTo>
                    <a:pt x="2319" y="159934"/>
                  </a:lnTo>
                  <a:lnTo>
                    <a:pt x="5508" y="166865"/>
                  </a:lnTo>
                  <a:lnTo>
                    <a:pt x="10309" y="172577"/>
                  </a:lnTo>
                  <a:lnTo>
                    <a:pt x="8590" y="178251"/>
                  </a:lnTo>
                  <a:lnTo>
                    <a:pt x="9621" y="185261"/>
                  </a:lnTo>
                  <a:lnTo>
                    <a:pt x="9621" y="193606"/>
                  </a:lnTo>
                  <a:lnTo>
                    <a:pt x="10480" y="204502"/>
                  </a:lnTo>
                  <a:lnTo>
                    <a:pt x="13401" y="214177"/>
                  </a:lnTo>
                  <a:lnTo>
                    <a:pt x="18900" y="221912"/>
                  </a:lnTo>
                  <a:lnTo>
                    <a:pt x="27491" y="226987"/>
                  </a:lnTo>
                  <a:lnTo>
                    <a:pt x="123021" y="265375"/>
                  </a:lnTo>
                  <a:lnTo>
                    <a:pt x="176892" y="243677"/>
                  </a:lnTo>
                  <a:lnTo>
                    <a:pt x="123709" y="243677"/>
                  </a:lnTo>
                  <a:lnTo>
                    <a:pt x="27835" y="206958"/>
                  </a:lnTo>
                  <a:lnTo>
                    <a:pt x="27835" y="180922"/>
                  </a:lnTo>
                  <a:lnTo>
                    <a:pt x="81085" y="180922"/>
                  </a:lnTo>
                  <a:lnTo>
                    <a:pt x="18556" y="156888"/>
                  </a:lnTo>
                  <a:lnTo>
                    <a:pt x="18556" y="126845"/>
                  </a:lnTo>
                  <a:lnTo>
                    <a:pt x="89658" y="126845"/>
                  </a:lnTo>
                  <a:lnTo>
                    <a:pt x="28866" y="103479"/>
                  </a:lnTo>
                  <a:lnTo>
                    <a:pt x="28866" y="73437"/>
                  </a:lnTo>
                  <a:lnTo>
                    <a:pt x="217222" y="73437"/>
                  </a:lnTo>
                  <a:lnTo>
                    <a:pt x="261506" y="56079"/>
                  </a:lnTo>
                  <a:lnTo>
                    <a:pt x="274907" y="56079"/>
                  </a:lnTo>
                  <a:lnTo>
                    <a:pt x="274907" y="50738"/>
                  </a:lnTo>
                  <a:lnTo>
                    <a:pt x="292776" y="43394"/>
                  </a:lnTo>
                  <a:lnTo>
                    <a:pt x="171817" y="0"/>
                  </a:lnTo>
                  <a:close/>
                </a:path>
                <a:path w="293369" h="265429">
                  <a:moveTo>
                    <a:pt x="274220" y="158223"/>
                  </a:moveTo>
                  <a:lnTo>
                    <a:pt x="261162" y="158223"/>
                  </a:lnTo>
                  <a:lnTo>
                    <a:pt x="261086" y="164899"/>
                  </a:lnTo>
                  <a:lnTo>
                    <a:pt x="261000" y="172577"/>
                  </a:lnTo>
                  <a:lnTo>
                    <a:pt x="260935" y="178251"/>
                  </a:lnTo>
                  <a:lnTo>
                    <a:pt x="260818" y="188599"/>
                  </a:lnTo>
                  <a:lnTo>
                    <a:pt x="123709" y="243677"/>
                  </a:lnTo>
                  <a:lnTo>
                    <a:pt x="176892" y="243677"/>
                  </a:lnTo>
                  <a:lnTo>
                    <a:pt x="292089" y="197278"/>
                  </a:lnTo>
                  <a:lnTo>
                    <a:pt x="274220" y="190936"/>
                  </a:lnTo>
                  <a:lnTo>
                    <a:pt x="274220" y="158223"/>
                  </a:lnTo>
                  <a:close/>
                </a:path>
                <a:path w="293369" h="265429">
                  <a:moveTo>
                    <a:pt x="81085" y="180922"/>
                  </a:moveTo>
                  <a:lnTo>
                    <a:pt x="27835" y="180922"/>
                  </a:lnTo>
                  <a:lnTo>
                    <a:pt x="113400" y="214970"/>
                  </a:lnTo>
                  <a:lnTo>
                    <a:pt x="169028" y="193606"/>
                  </a:lnTo>
                  <a:lnTo>
                    <a:pt x="114087" y="193606"/>
                  </a:lnTo>
                  <a:lnTo>
                    <a:pt x="81085" y="180922"/>
                  </a:lnTo>
                  <a:close/>
                </a:path>
                <a:path w="293369" h="265429">
                  <a:moveTo>
                    <a:pt x="264598" y="110155"/>
                  </a:moveTo>
                  <a:lnTo>
                    <a:pt x="251540" y="110155"/>
                  </a:lnTo>
                  <a:lnTo>
                    <a:pt x="251540" y="138529"/>
                  </a:lnTo>
                  <a:lnTo>
                    <a:pt x="251197" y="138529"/>
                  </a:lnTo>
                  <a:lnTo>
                    <a:pt x="114087" y="193606"/>
                  </a:lnTo>
                  <a:lnTo>
                    <a:pt x="169028" y="193606"/>
                  </a:lnTo>
                  <a:lnTo>
                    <a:pt x="261162" y="158223"/>
                  </a:lnTo>
                  <a:lnTo>
                    <a:pt x="274220" y="158223"/>
                  </a:lnTo>
                  <a:lnTo>
                    <a:pt x="274220" y="154217"/>
                  </a:lnTo>
                  <a:lnTo>
                    <a:pt x="292089" y="146874"/>
                  </a:lnTo>
                  <a:lnTo>
                    <a:pt x="264598" y="136859"/>
                  </a:lnTo>
                  <a:lnTo>
                    <a:pt x="264598" y="110155"/>
                  </a:lnTo>
                  <a:close/>
                </a:path>
                <a:path w="293369" h="265429">
                  <a:moveTo>
                    <a:pt x="89658" y="126845"/>
                  </a:moveTo>
                  <a:lnTo>
                    <a:pt x="18556" y="126845"/>
                  </a:lnTo>
                  <a:lnTo>
                    <a:pt x="116836" y="164899"/>
                  </a:lnTo>
                  <a:lnTo>
                    <a:pt x="177617" y="140198"/>
                  </a:lnTo>
                  <a:lnTo>
                    <a:pt x="124396" y="140197"/>
                  </a:lnTo>
                  <a:lnTo>
                    <a:pt x="89658" y="126845"/>
                  </a:lnTo>
                  <a:close/>
                </a:path>
                <a:path w="293369" h="265429">
                  <a:moveTo>
                    <a:pt x="274907" y="56079"/>
                  </a:moveTo>
                  <a:lnTo>
                    <a:pt x="261506" y="56079"/>
                  </a:lnTo>
                  <a:lnTo>
                    <a:pt x="261506" y="84786"/>
                  </a:lnTo>
                  <a:lnTo>
                    <a:pt x="124396" y="140197"/>
                  </a:lnTo>
                  <a:lnTo>
                    <a:pt x="177617" y="140198"/>
                  </a:lnTo>
                  <a:lnTo>
                    <a:pt x="251540" y="110155"/>
                  </a:lnTo>
                  <a:lnTo>
                    <a:pt x="264598" y="110155"/>
                  </a:lnTo>
                  <a:lnTo>
                    <a:pt x="264598" y="104814"/>
                  </a:lnTo>
                  <a:lnTo>
                    <a:pt x="292776" y="93465"/>
                  </a:lnTo>
                  <a:lnTo>
                    <a:pt x="274907" y="87123"/>
                  </a:lnTo>
                  <a:lnTo>
                    <a:pt x="274907" y="56079"/>
                  </a:lnTo>
                  <a:close/>
                </a:path>
                <a:path w="293369" h="265429">
                  <a:moveTo>
                    <a:pt x="217222" y="73437"/>
                  </a:moveTo>
                  <a:lnTo>
                    <a:pt x="28866" y="73437"/>
                  </a:lnTo>
                  <a:lnTo>
                    <a:pt x="124396" y="109821"/>
                  </a:lnTo>
                  <a:lnTo>
                    <a:pt x="217222" y="73437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9549" y="5744469"/>
              <a:ext cx="293370" cy="265430"/>
            </a:xfrm>
            <a:custGeom>
              <a:avLst/>
              <a:gdLst/>
              <a:ahLst/>
              <a:cxnLst/>
              <a:rect l="l" t="t" r="r" b="b"/>
              <a:pathLst>
                <a:path w="293369" h="265429">
                  <a:moveTo>
                    <a:pt x="292776" y="93465"/>
                  </a:moveTo>
                  <a:lnTo>
                    <a:pt x="274907" y="87123"/>
                  </a:lnTo>
                  <a:lnTo>
                    <a:pt x="274907" y="50738"/>
                  </a:lnTo>
                  <a:lnTo>
                    <a:pt x="292776" y="43394"/>
                  </a:lnTo>
                  <a:lnTo>
                    <a:pt x="171817" y="0"/>
                  </a:lnTo>
                  <a:lnTo>
                    <a:pt x="24741" y="50070"/>
                  </a:lnTo>
                  <a:lnTo>
                    <a:pt x="10308" y="90127"/>
                  </a:lnTo>
                  <a:lnTo>
                    <a:pt x="10308" y="95134"/>
                  </a:lnTo>
                  <a:lnTo>
                    <a:pt x="10996" y="100141"/>
                  </a:lnTo>
                  <a:lnTo>
                    <a:pt x="12027" y="104814"/>
                  </a:lnTo>
                  <a:lnTo>
                    <a:pt x="5218" y="111944"/>
                  </a:lnTo>
                  <a:lnTo>
                    <a:pt x="1632" y="121546"/>
                  </a:lnTo>
                  <a:lnTo>
                    <a:pt x="236" y="132463"/>
                  </a:lnTo>
                  <a:lnTo>
                    <a:pt x="0" y="143536"/>
                  </a:lnTo>
                  <a:lnTo>
                    <a:pt x="547" y="152063"/>
                  </a:lnTo>
                  <a:lnTo>
                    <a:pt x="2319" y="159934"/>
                  </a:lnTo>
                  <a:lnTo>
                    <a:pt x="5508" y="166865"/>
                  </a:lnTo>
                  <a:lnTo>
                    <a:pt x="10309" y="172577"/>
                  </a:lnTo>
                  <a:lnTo>
                    <a:pt x="8590" y="178251"/>
                  </a:lnTo>
                  <a:lnTo>
                    <a:pt x="9621" y="185261"/>
                  </a:lnTo>
                  <a:lnTo>
                    <a:pt x="9621" y="193606"/>
                  </a:lnTo>
                  <a:lnTo>
                    <a:pt x="10480" y="204502"/>
                  </a:lnTo>
                  <a:lnTo>
                    <a:pt x="13401" y="214177"/>
                  </a:lnTo>
                  <a:lnTo>
                    <a:pt x="18900" y="221912"/>
                  </a:lnTo>
                  <a:lnTo>
                    <a:pt x="27491" y="226987"/>
                  </a:lnTo>
                  <a:lnTo>
                    <a:pt x="123021" y="265375"/>
                  </a:lnTo>
                  <a:lnTo>
                    <a:pt x="292089" y="197278"/>
                  </a:lnTo>
                  <a:lnTo>
                    <a:pt x="274220" y="190936"/>
                  </a:lnTo>
                  <a:lnTo>
                    <a:pt x="274220" y="154217"/>
                  </a:lnTo>
                  <a:lnTo>
                    <a:pt x="292089" y="146874"/>
                  </a:lnTo>
                  <a:lnTo>
                    <a:pt x="264598" y="136859"/>
                  </a:lnTo>
                  <a:lnTo>
                    <a:pt x="264598" y="104814"/>
                  </a:lnTo>
                  <a:lnTo>
                    <a:pt x="292776" y="93465"/>
                  </a:lnTo>
                  <a:close/>
                </a:path>
              </a:pathLst>
            </a:custGeom>
            <a:ln w="3382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6430" y="5798873"/>
              <a:ext cx="246299" cy="19094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83055" y="1872678"/>
            <a:ext cx="9592310" cy="413257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35"/>
              </a:spcBef>
            </a:pPr>
            <a:r>
              <a:rPr sz="1550" dirty="0">
                <a:latin typeface="Times New Roman"/>
                <a:cs typeface="Times New Roman"/>
              </a:rPr>
              <a:t>Introduction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(try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answer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what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is,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why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is,</a:t>
            </a:r>
            <a:r>
              <a:rPr sz="1550" spc="65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what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70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Times New Roman"/>
                <a:cs typeface="Times New Roman"/>
              </a:rPr>
              <a:t>(are)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existing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problems,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why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problem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so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important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discuss;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may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cite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footer)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latin typeface="Times New Roman"/>
                <a:cs typeface="Times New Roman"/>
              </a:rPr>
              <a:t>Motivation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Contributions</a:t>
            </a:r>
            <a:endParaRPr sz="1550">
              <a:latin typeface="Times New Roman"/>
              <a:cs typeface="Times New Roman"/>
            </a:endParaRPr>
          </a:p>
          <a:p>
            <a:pPr marL="12700" marR="7584440">
              <a:lnSpc>
                <a:spcPct val="317800"/>
              </a:lnSpc>
            </a:pPr>
            <a:r>
              <a:rPr sz="1550" dirty="0">
                <a:latin typeface="Times New Roman"/>
                <a:cs typeface="Times New Roman"/>
              </a:rPr>
              <a:t>Proposed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System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Model </a:t>
            </a:r>
            <a:r>
              <a:rPr sz="1550" dirty="0">
                <a:latin typeface="Times New Roman"/>
                <a:cs typeface="Times New Roman"/>
              </a:rPr>
              <a:t>Results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Discussion Conclusion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spc="-10" dirty="0">
                <a:latin typeface="Times New Roman"/>
                <a:cs typeface="Times New Roman"/>
              </a:rPr>
              <a:t>Reference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1" y="2407348"/>
            <a:ext cx="10439400" cy="320356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marR="5080" indent="-342900">
              <a:lnSpc>
                <a:spcPts val="2100"/>
              </a:lnSpc>
              <a:spcBef>
                <a:spcPts val="44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Forests are essential for maintaining climate balance, biodiversity, and carbon storage.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forest stands supports sustainable management and early detection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environmental changes.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like field surveys and aerial photography are accurate but slow and                            costly on large scales.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Earth Observation satellites and Artificial Intelligence, automated forest detection is now possible.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develops a YOLOv8-based system using the Euro SAT dataset for efficient and real-time forest classification.</a:t>
            </a:r>
          </a:p>
          <a:p>
            <a:pPr marL="12065" marR="41275">
              <a:lnSpc>
                <a:spcPct val="89200"/>
              </a:lnSpc>
              <a:spcBef>
                <a:spcPts val="1085"/>
              </a:spcBef>
              <a:tabLst>
                <a:tab pos="241300" algn="l"/>
              </a:tabLst>
            </a:pP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0"/>
              </a:spcBef>
            </a:pPr>
            <a:r>
              <a:rPr dirty="0"/>
              <a:t>Motivation</a:t>
            </a:r>
            <a:r>
              <a:rPr spc="20" dirty="0"/>
              <a:t> </a:t>
            </a:r>
            <a:r>
              <a:rPr dirty="0"/>
              <a:t>&amp;</a:t>
            </a:r>
            <a:r>
              <a:rPr spc="55" dirty="0"/>
              <a:t> </a:t>
            </a:r>
            <a:r>
              <a:rPr dirty="0"/>
              <a:t>Core</a:t>
            </a:r>
            <a:r>
              <a:rPr spc="2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6" y="2316464"/>
            <a:ext cx="6784974" cy="421140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Forest monitoring needs faster and more accurate methods for large-scale environmental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Existing models like EfficientNet and CNNs provide good accuracy but lack real-time processing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YOLOv8 offers a lightweight and high-speed deep learning architecture suitable for satellite images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This study introduces a multi-zonal forest classification system using the YOLOv8 framework and EuroSAT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model achieves 97.5% accuracy, proving effective for scalable and real-time forest monitoring applications.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241300" algn="l"/>
              </a:tabLst>
            </a:pPr>
            <a:endParaRPr lang="en-US"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EB413-B33C-5B1A-092C-59C4C95786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694" y="2316464"/>
            <a:ext cx="40386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0"/>
              </a:spcBef>
            </a:pPr>
            <a:r>
              <a:rPr dirty="0"/>
              <a:t>Literature</a:t>
            </a:r>
            <a:r>
              <a:rPr spc="-3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5" y="2407348"/>
            <a:ext cx="9435465" cy="3134833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Previous studies used deep learning models like YOLOv5, Mask R-CNN, and EfficientNet for forest detection and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These models achieved good accuracy but often required high computational power and long training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Some works focused on forest fire detection and deforestation alerts, showing the potential of AI in environmental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Only a few studies have applied advanced YOLOv8 models specifically for detailed forest type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This work tries new model combinations and improved preprocessing to achieve better accuracy and faster performance.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5" dirty="0"/>
              <a:t> </a:t>
            </a:r>
            <a:r>
              <a:rPr dirty="0"/>
              <a:t>System</a:t>
            </a:r>
            <a:r>
              <a:rPr spc="4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5" y="2316034"/>
            <a:ext cx="7849234" cy="384977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model used in this study is YOLOv8, a fast and lightweight deep learning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It is designed mainly for real-time object detection but also supports image classification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architecture includes a backbone to extract image features, a neck to combine multi-scale features, and a head that outputs class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The model learns to identify different land-cover types by analyzing spatial and spectral patterns in the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YOLOv8 was selected because it delivers high accuracy with faster processing, making it ideal for large-scale forest classification.</a:t>
            </a: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241300" algn="l"/>
              </a:tabLst>
            </a:pPr>
            <a:endParaRPr lang="en-US"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73BAF-BA0B-2139-2319-6F3E8E921F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371600"/>
            <a:ext cx="2889472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Simulation</a:t>
            </a:r>
            <a:r>
              <a:rPr spc="120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5" y="2316464"/>
            <a:ext cx="8258809" cy="3185487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EuroSAT dataset was divided into 70% for training, 15% for validation, and 15% for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Images were normalized and augmented through flipping and rotation to improve model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YOLOv8 model was trained for 30 epochs using the Adam optimizer with a learning rate of 0.001.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Cross-entropy loss was used to measure classification accuracy and guide model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performance was evaluated using accuracy, precision, recall, and F1-score metrics.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spc="35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spc="-10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5" y="2316464"/>
            <a:ext cx="7013575" cy="3801041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YOLOv8 model achieved an overall accuracy of 97.5% on the EuroSAT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Precision, recall, and F1-score were 97.8%, 98.2%, and 97.8%, showing consistent performance across all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YOLOv8 outperformed EfficientNet-B4 in both accuracy and processing speed, making it suitable for real-time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Data augmentation and parameter tuning improved the model’s stability and reduced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results show that YOLOv8 can accurately classify multiple land-cover types, proving effective for scalable forest monitoring.</a:t>
            </a:r>
          </a:p>
          <a:p>
            <a:r>
              <a:rPr lang="en-IN" sz="2000" dirty="0"/>
              <a:t> 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328DB3-816F-B167-AE89-C7EE167D8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626" y="2316464"/>
            <a:ext cx="3756774" cy="2941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40" dirty="0"/>
              <a:t> </a:t>
            </a:r>
            <a:r>
              <a:rPr dirty="0"/>
              <a:t>&amp;</a:t>
            </a:r>
            <a:r>
              <a:rPr spc="65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5" y="2407348"/>
            <a:ext cx="9451975" cy="3134833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study developed a multi-zonal forest classification system using the YOLOv8 model and the EuroSAT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The model achieved high accuracy and fast processing, proving effective for real-time forest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YOLOv8 performed better than EfficientNet-B4 while using fewer computational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The approach supports large-scale environmental analysis and sustainable forest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Future work will focus on expanding the dataset and optimizing the model for better regional generalization and real-time deployment.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6024" y="2316034"/>
            <a:ext cx="9680575" cy="31572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Saricayir and Ozcan (2025): EfficientNet deep learning model for satellite image classification using the EuroSAT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Amani et al. (2023): Deep transfer learning-based forest fire susceptibility mapping using satellite imagery.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Lu et al. (2022): UAV and deep learning-based forest fire detection and early warning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Kovacovic et al. (2025): Satellite-based forest stand detection using artificial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Corley et al. (2025): Landsat-Bench datasets and benchmarks for Landsat foundation models.</a:t>
            </a:r>
            <a:endParaRPr lang="en-IN"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Reviewer</a:t>
            </a:r>
            <a:r>
              <a:rPr spc="15" dirty="0"/>
              <a:t> </a:t>
            </a:r>
            <a:r>
              <a:rPr dirty="0"/>
              <a:t>Comments</a:t>
            </a:r>
            <a:r>
              <a:rPr spc="-150" dirty="0"/>
              <a:t> </a:t>
            </a:r>
            <a:r>
              <a:rPr spc="-10" dirty="0"/>
              <a:t>Addressed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16025" y="2407348"/>
            <a:ext cx="9756775" cy="344260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b="1" dirty="0"/>
              <a:t>Enhanced English Proficiency:</a:t>
            </a:r>
            <a:r>
              <a:rPr lang="en-IN" dirty="0"/>
              <a:t> Improved grammar, clarity, and overall academic tone across the manuscript.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IN" b="1" dirty="0"/>
              <a:t>Improved Figures and Tables:</a:t>
            </a:r>
            <a:r>
              <a:rPr lang="en-IN" dirty="0"/>
              <a:t> Added high-quality figures and new tables for hyperparameters and runtime comparison.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IN" b="1" dirty="0"/>
              <a:t>Expanded Methodology:</a:t>
            </a:r>
            <a:r>
              <a:rPr lang="en-IN" dirty="0"/>
              <a:t> Provided detailed explanations of the </a:t>
            </a:r>
            <a:r>
              <a:rPr lang="en-IN" b="1" dirty="0"/>
              <a:t>YOLOv8 architecture</a:t>
            </a:r>
            <a:r>
              <a:rPr lang="en-IN" dirty="0"/>
              <a:t>, training setup, and preprocessing.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IN" b="1" dirty="0"/>
              <a:t>Added Comparative Analysis:</a:t>
            </a:r>
            <a:r>
              <a:rPr lang="en-IN" dirty="0"/>
              <a:t> Included performance comparison between </a:t>
            </a:r>
            <a:r>
              <a:rPr lang="en-IN" b="1" dirty="0"/>
              <a:t>YOLOv8 variants</a:t>
            </a:r>
            <a:r>
              <a:rPr lang="en-IN" dirty="0"/>
              <a:t> and </a:t>
            </a:r>
            <a:r>
              <a:rPr lang="en-IN" b="1" dirty="0"/>
              <a:t>EfficientNet-B4</a:t>
            </a:r>
            <a:r>
              <a:rPr lang="en-IN" dirty="0"/>
              <a:t>, highlighting efficiency and scalability.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dirty="0"/>
              <a:t>  </a:t>
            </a:r>
            <a:r>
              <a:rPr lang="en-US" b="1" dirty="0"/>
              <a:t>Extended Discussion and Future Work:</a:t>
            </a:r>
            <a:r>
              <a:rPr lang="en-US" dirty="0"/>
              <a:t> </a:t>
            </a:r>
            <a:r>
              <a:rPr lang="en-IN" dirty="0"/>
              <a:t>Discussed misclassifications, </a:t>
            </a:r>
            <a:r>
              <a:rPr lang="en-US" dirty="0"/>
              <a:t>Expanded limitations, future research scope, and practical deployment potential for real-time forest monitoring.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0715" y="24233"/>
            <a:ext cx="1346579" cy="7360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713" y="2172652"/>
            <a:ext cx="252285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0" spc="-28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4800" b="0" spc="-5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800" b="0" spc="-34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1533</TotalTime>
  <Words>928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VijayBhaskarReddy Nakka</cp:lastModifiedBy>
  <cp:revision>7</cp:revision>
  <dcterms:created xsi:type="dcterms:W3CDTF">2025-10-31T13:01:35Z</dcterms:created>
  <dcterms:modified xsi:type="dcterms:W3CDTF">2025-11-07T14:51:02Z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LastSaved">
    <vt:filetime>2025-10-31T00:00:00Z</vt:filetime>
  </property>
</Properties>
</file>